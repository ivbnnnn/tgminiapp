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>
          <p15:clr>
            <a:srgbClr val="A4A3A4"/>
          </p15:clr>
        </p15:guide>
        <p15:guide id="2" pos="2479">
          <p15:clr>
            <a:srgbClr val="A4A3A4"/>
          </p15:clr>
        </p15:guide>
        <p15:guide id="3" orient="horz" pos="482">
          <p15:clr>
            <a:srgbClr val="A4A3A4"/>
          </p15:clr>
        </p15:guide>
        <p15:guide id="4" orient="horz" pos="1162">
          <p15:clr>
            <a:srgbClr val="A4A3A4"/>
          </p15:clr>
        </p15:guide>
        <p15:guide id="5" orient="horz" pos="1366">
          <p15:clr>
            <a:srgbClr val="A4A3A4"/>
          </p15:clr>
        </p15:guide>
        <p15:guide id="6" pos="5518">
          <p15:clr>
            <a:srgbClr val="A4A3A4"/>
          </p15:clr>
        </p15:guide>
        <p15:guide id="7" orient="horz" pos="2341">
          <p15:clr>
            <a:srgbClr val="A4A3A4"/>
          </p15:clr>
        </p15:guide>
        <p15:guide id="8" orient="horz" pos="2591">
          <p15:clr>
            <a:srgbClr val="A4A3A4"/>
          </p15:clr>
        </p15:guide>
        <p15:guide id="9" orient="horz" pos="2523">
          <p15:clr>
            <a:srgbClr val="A4A3A4"/>
          </p15:clr>
        </p15:guide>
        <p15:guide id="10" pos="6698">
          <p15:clr>
            <a:srgbClr val="A4A3A4"/>
          </p15:clr>
        </p15:guide>
        <p15:guide id="11" orient="horz" pos="1117">
          <p15:clr>
            <a:srgbClr val="A4A3A4"/>
          </p15:clr>
        </p15:guide>
        <p15:guide id="12" orient="horz" pos="436">
          <p15:clr>
            <a:srgbClr val="A4A3A4"/>
          </p15:clr>
        </p15:guide>
        <p15:guide id="13" pos="5450">
          <p15:clr>
            <a:srgbClr val="A4A3A4"/>
          </p15:clr>
        </p15:guide>
        <p15:guide id="14" orient="horz" pos="1253">
          <p15:clr>
            <a:srgbClr val="A4A3A4"/>
          </p15:clr>
        </p15:guide>
        <p15:guide id="15" pos="6176">
          <p15:clr>
            <a:srgbClr val="A4A3A4"/>
          </p15:clr>
        </p15:guide>
        <p15:guide id="16" pos="1527">
          <p15:clr>
            <a:srgbClr val="A4A3A4"/>
          </p15:clr>
        </p15:guide>
        <p15:guide id="17" pos="3092">
          <p15:clr>
            <a:srgbClr val="A4A3A4"/>
          </p15:clr>
        </p15:guide>
        <p15:guide id="18" pos="5382">
          <p15:clr>
            <a:srgbClr val="A4A3A4"/>
          </p15:clr>
        </p15:guide>
        <p15:guide id="19" pos="960">
          <p15:clr>
            <a:srgbClr val="A4A3A4"/>
          </p15:clr>
        </p15:guide>
        <p15:guide id="20" pos="2434">
          <p15:clr>
            <a:srgbClr val="A4A3A4"/>
          </p15:clr>
        </p15:guide>
        <p15:guide id="21" orient="horz" pos="2047">
          <p15:clr>
            <a:srgbClr val="A4A3A4"/>
          </p15:clr>
        </p15:guide>
        <p15:guide id="22" pos="1277">
          <p15:clr>
            <a:srgbClr val="A4A3A4"/>
          </p15:clr>
        </p15:guide>
        <p15:guide id="23" pos="40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49270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108081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FBE26D7A-F5EB-4C23-8032-E31C77D84C5A}" type="datetimeFigureOut">
              <a:rPr lang="ru-RU"/>
              <a:t>27.06.2026</a:t>
            </a:fld>
            <a:endParaRPr lang="ru-RU"/>
          </a:p>
        </p:txBody>
      </p:sp>
      <p:sp>
        <p:nvSpPr>
          <p:cNvPr id="49581720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9247829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8361647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8713236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23B3B5DC-1A24-4803-AA36-26180B22D0F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F89786-005E-3184-630A-B331B9AABEA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AB87F5-1EC5-9A5A-FDC7-9466D3C664B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74E3A6-B0CE-63EC-6C19-FD94AB7F5794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0A9EAF-B167-2AFB-CA41-E6847D37E3C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203598-7D48-0460-1301-304B5FDDB8DE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6B2C63-B02F-E69A-BF4F-6D31CA98CC3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B9FB8-7E54-CB07-3396-BFEFEE4DEF18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56026E-CAF4-8CBE-32D3-F7A8871B3EE4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109FEF-7512-4648-393E-1B0B03DFEEEA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D666BC-1D99-D455-4AEF-6E2A56331794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D0891-FF6D-49F7-AE2B-AF0737B79E0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7AF37-22C3-17E9-3292-E325AE04B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35B03-C648-C867-3384-E921DE633E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F91D4-5700-E5BF-5F06-69C17BAEEF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D666BC-1D99-D455-4AEF-6E2A56331794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547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D2CC23-E37A-407C-4F41-2E0CA5DA2582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407523353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407523353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284111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5053687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903049342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631927488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вета подразделений и основного бре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13869060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313869060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3464710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Корпоративные цвета РТУ МИРЭА</a:t>
            </a:r>
            <a:endParaRPr/>
          </a:p>
        </p:txBody>
      </p:sp>
      <p:sp>
        <p:nvSpPr>
          <p:cNvPr id="556057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2112036529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19104590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40434091" name="Прямоугольник: скругленные углы 27"/>
          <p:cNvSpPr/>
          <p:nvPr userDrawn="1"/>
        </p:nvSpPr>
        <p:spPr bwMode="auto">
          <a:xfrm rot="10800000">
            <a:off x="1018545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10775889" name="Прямоугольник: скругленные углы 28"/>
          <p:cNvSpPr/>
          <p:nvPr userDrawn="1"/>
        </p:nvSpPr>
        <p:spPr bwMode="auto">
          <a:xfrm>
            <a:off x="10201038" y="247150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02253658" name="Прямоугольник: скругленные углы 29"/>
          <p:cNvSpPr/>
          <p:nvPr userDrawn="1"/>
        </p:nvSpPr>
        <p:spPr bwMode="auto">
          <a:xfrm rot="10800000">
            <a:off x="7973503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7673487" name="Прямоугольник: скругленные углы 30"/>
          <p:cNvSpPr/>
          <p:nvPr userDrawn="1"/>
        </p:nvSpPr>
        <p:spPr bwMode="auto">
          <a:xfrm>
            <a:off x="7992734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47067670" name="Прямоугольник: скругленные углы 31"/>
          <p:cNvSpPr/>
          <p:nvPr userDrawn="1"/>
        </p:nvSpPr>
        <p:spPr bwMode="auto">
          <a:xfrm rot="10800000">
            <a:off x="5761555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3238374" name="Прямоугольник: скругленные углы 32"/>
          <p:cNvSpPr/>
          <p:nvPr userDrawn="1"/>
        </p:nvSpPr>
        <p:spPr bwMode="auto">
          <a:xfrm>
            <a:off x="5761555" y="2452512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68100305" name="Прямоугольник: скругленные углы 33"/>
          <p:cNvSpPr/>
          <p:nvPr userDrawn="1"/>
        </p:nvSpPr>
        <p:spPr bwMode="auto">
          <a:xfrm rot="10800000">
            <a:off x="7973503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25598570" name="Прямоугольник: скругленные углы 34"/>
          <p:cNvSpPr/>
          <p:nvPr userDrawn="1"/>
        </p:nvSpPr>
        <p:spPr bwMode="auto">
          <a:xfrm>
            <a:off x="7973503" y="2480463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961618848" name="Прямоугольник: скругленные углы 35"/>
          <p:cNvSpPr/>
          <p:nvPr userDrawn="1"/>
        </p:nvSpPr>
        <p:spPr bwMode="auto">
          <a:xfrm rot="10800000">
            <a:off x="3549609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99884850" name="Прямоугольник: скругленные углы 36"/>
          <p:cNvSpPr/>
          <p:nvPr userDrawn="1"/>
        </p:nvSpPr>
        <p:spPr bwMode="auto">
          <a:xfrm>
            <a:off x="354960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12956091" name="Прямоугольник: скругленные углы 37"/>
          <p:cNvSpPr/>
          <p:nvPr userDrawn="1"/>
        </p:nvSpPr>
        <p:spPr bwMode="auto">
          <a:xfrm rot="10800000">
            <a:off x="5761555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87461377" name="Прямоугольник: скругленные углы 38"/>
          <p:cNvSpPr/>
          <p:nvPr userDrawn="1"/>
        </p:nvSpPr>
        <p:spPr bwMode="auto">
          <a:xfrm>
            <a:off x="5784430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0072642" name="Прямоугольник: скругленные углы 39"/>
          <p:cNvSpPr/>
          <p:nvPr userDrawn="1"/>
        </p:nvSpPr>
        <p:spPr bwMode="auto">
          <a:xfrm rot="10800000">
            <a:off x="6914701" y="5381153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349670311" name="Прямоугольник: скругленные углы 40"/>
          <p:cNvSpPr/>
          <p:nvPr userDrawn="1"/>
        </p:nvSpPr>
        <p:spPr bwMode="auto">
          <a:xfrm>
            <a:off x="6906718" y="5957884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02706614" name="Прямоугольник: скругленные углы 41"/>
          <p:cNvSpPr/>
          <p:nvPr userDrawn="1"/>
        </p:nvSpPr>
        <p:spPr bwMode="auto">
          <a:xfrm rot="10800000">
            <a:off x="10185450" y="348082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9065506" name="Прямоугольник: скругленные углы 42"/>
          <p:cNvSpPr/>
          <p:nvPr userDrawn="1"/>
        </p:nvSpPr>
        <p:spPr bwMode="auto">
          <a:xfrm>
            <a:off x="1020103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1156219" name="Прямоугольник: скругленные углы 43"/>
          <p:cNvSpPr/>
          <p:nvPr userDrawn="1"/>
        </p:nvSpPr>
        <p:spPr bwMode="auto">
          <a:xfrm rot="10800000">
            <a:off x="3549609" y="5403126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7410212" name="Прямоугольник: скругленные углы 44"/>
          <p:cNvSpPr/>
          <p:nvPr userDrawn="1"/>
        </p:nvSpPr>
        <p:spPr bwMode="auto">
          <a:xfrm>
            <a:off x="3549608" y="5970069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71627924" name="Прямоугольник: скругленные углы 45"/>
          <p:cNvSpPr/>
          <p:nvPr userDrawn="1"/>
        </p:nvSpPr>
        <p:spPr bwMode="auto">
          <a:xfrm rot="10800000">
            <a:off x="3549608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62978360" name="Прямоугольник: скругленные углы 46"/>
          <p:cNvSpPr/>
          <p:nvPr userDrawn="1"/>
        </p:nvSpPr>
        <p:spPr bwMode="auto">
          <a:xfrm>
            <a:off x="3549608" y="245872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712482947" name="Прямоугольник: скругленные углы 47"/>
          <p:cNvSpPr/>
          <p:nvPr userDrawn="1"/>
        </p:nvSpPr>
        <p:spPr bwMode="auto">
          <a:xfrm rot="10800000">
            <a:off x="342961" y="261879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65587755" name="Прямоугольник: скругленные углы 48"/>
          <p:cNvSpPr/>
          <p:nvPr userDrawn="1"/>
        </p:nvSpPr>
        <p:spPr bwMode="auto">
          <a:xfrm rot="10800000">
            <a:off x="342960" y="327266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43817439" name="Прямоугольник: скругленные углы 49"/>
          <p:cNvSpPr/>
          <p:nvPr userDrawn="1"/>
        </p:nvSpPr>
        <p:spPr bwMode="auto">
          <a:xfrm rot="10800000">
            <a:off x="34296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65744483" name="Прямоугольник: скругленные углы 50"/>
          <p:cNvSpPr/>
          <p:nvPr userDrawn="1"/>
        </p:nvSpPr>
        <p:spPr bwMode="auto">
          <a:xfrm>
            <a:off x="342960" y="3836551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15242143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Основной цвет</a:t>
            </a:r>
            <a:endParaRPr/>
          </a:p>
        </p:txBody>
      </p:sp>
      <p:sp>
        <p:nvSpPr>
          <p:cNvPr id="2141894268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Дополнительный цвет</a:t>
            </a:r>
            <a:endParaRPr/>
          </a:p>
        </p:txBody>
      </p:sp>
      <p:sp>
        <p:nvSpPr>
          <p:cNvPr id="1671206707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университета</a:t>
            </a:r>
            <a:br>
              <a:rPr lang="ru-RU" sz="2400" baseline="30000">
                <a:latin typeface="Arial"/>
              </a:rPr>
            </a:br>
            <a:r>
              <a:rPr lang="ru-RU" sz="2400" baseline="30000">
                <a:latin typeface="Arial"/>
              </a:rPr>
              <a:t>и филиалов</a:t>
            </a:r>
            <a:endParaRPr/>
          </a:p>
        </p:txBody>
      </p:sp>
      <p:sp>
        <p:nvSpPr>
          <p:cNvPr id="1343393096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Градиент</a:t>
            </a:r>
            <a:endParaRPr/>
          </a:p>
        </p:txBody>
      </p:sp>
      <p:sp>
        <p:nvSpPr>
          <p:cNvPr id="179748838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институтов</a:t>
            </a:r>
            <a:endParaRPr/>
          </a:p>
        </p:txBody>
      </p:sp>
      <p:sp>
        <p:nvSpPr>
          <p:cNvPr id="1324161817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колледжа</a:t>
            </a:r>
            <a:endParaRPr/>
          </a:p>
        </p:txBody>
      </p:sp>
      <p:sp>
        <p:nvSpPr>
          <p:cNvPr id="1037943813" name="TextBox 57"/>
          <p:cNvSpPr txBox="1"/>
          <p:nvPr userDrawn="1"/>
        </p:nvSpPr>
        <p:spPr bwMode="auto">
          <a:xfrm>
            <a:off x="6912299" y="5108115"/>
            <a:ext cx="5089201" cy="2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Института международного образования</a:t>
            </a:r>
            <a:endParaRPr/>
          </a:p>
          <a:p>
            <a:pPr>
              <a:defRPr/>
            </a:pPr>
            <a:endParaRPr lang="ru-RU" sz="2400" baseline="30000">
              <a:latin typeface="Arial"/>
            </a:endParaRPr>
          </a:p>
        </p:txBody>
      </p:sp>
      <p:sp>
        <p:nvSpPr>
          <p:cNvPr id="970418947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ИИИ</a:t>
            </a:r>
            <a:endParaRPr/>
          </a:p>
        </p:txBody>
      </p:sp>
      <p:grpSp>
        <p:nvGrpSpPr>
          <p:cNvPr id="103303505" name="Группа 95"/>
          <p:cNvGrpSpPr/>
          <p:nvPr userDrawn="1"/>
        </p:nvGrpSpPr>
        <p:grpSpPr bwMode="auto"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sp>
        <p:nvSpPr>
          <p:cNvPr id="1342521266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Чтобы взять необходимый цвет на слайд, воспользуйтесь инструментом «Пипетка»</a:t>
            </a:r>
            <a:endParaRPr/>
          </a:p>
        </p:txBody>
      </p:sp>
      <p:grpSp>
        <p:nvGrpSpPr>
          <p:cNvPr id="1946623920" name="Группа 96"/>
          <p:cNvGrpSpPr/>
          <p:nvPr userDrawn="1"/>
        </p:nvGrpSpPr>
        <p:grpSpPr bwMode="auto"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ИТХТ</a:t>
              </a:r>
              <a:endParaRPr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605066978" name="Группа 67"/>
          <p:cNvGrpSpPr/>
          <p:nvPr userDrawn="1"/>
        </p:nvGrpSpPr>
        <p:grpSpPr bwMode="auto"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ИРИ</a:t>
              </a:r>
              <a:endParaRPr/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585820" name="Группа 71"/>
          <p:cNvGrpSpPr/>
          <p:nvPr userDrawn="1"/>
        </p:nvGrpSpPr>
        <p:grpSpPr bwMode="auto"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ИИТ</a:t>
              </a:r>
              <a:endParaRPr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251411285" name="Группа 91"/>
          <p:cNvGrpSpPr/>
          <p:nvPr userDrawn="1"/>
        </p:nvGrpSpPr>
        <p:grpSpPr bwMode="auto"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ИКБ</a:t>
              </a:r>
              <a:endParaRPr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75734779" name="Группа 92"/>
          <p:cNvGrpSpPr/>
          <p:nvPr userDrawn="1"/>
        </p:nvGrpSpPr>
        <p:grpSpPr bwMode="auto"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ИТУ</a:t>
              </a:r>
              <a:endParaRPr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36439458" name="Группа 94"/>
          <p:cNvGrpSpPr/>
          <p:nvPr userDrawn="1"/>
        </p:nvGrpSpPr>
        <p:grpSpPr bwMode="auto"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ИПТИП</a:t>
              </a:r>
              <a:endParaRPr/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880437131" name="Группа 93"/>
          <p:cNvGrpSpPr/>
          <p:nvPr userDrawn="1"/>
        </p:nvGrpSpPr>
        <p:grpSpPr bwMode="auto"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ПИШ</a:t>
              </a:r>
              <a:endParaRPr/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28184004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928184004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22073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4531692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21656106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321945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735809935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16327370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3144197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64146329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96567235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несколькими изображения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029744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68925561" name="Рисунок 31"/>
          <p:cNvSpPr>
            <a:spLocks noGrp="1"/>
          </p:cNvSpPr>
          <p:nvPr>
            <p:ph type="pic" sz="quarter" idx="20"/>
          </p:nvPr>
        </p:nvSpPr>
        <p:spPr bwMode="auto"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32517" name="Рисунок 31"/>
          <p:cNvSpPr>
            <a:spLocks noGrp="1"/>
          </p:cNvSpPr>
          <p:nvPr>
            <p:ph type="pic" sz="quarter" idx="21"/>
          </p:nvPr>
        </p:nvSpPr>
        <p:spPr bwMode="auto"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0706165" name="Рисунок 31"/>
          <p:cNvSpPr>
            <a:spLocks noGrp="1"/>
          </p:cNvSpPr>
          <p:nvPr>
            <p:ph type="pic" sz="quarter" idx="22"/>
          </p:nvPr>
        </p:nvSpPr>
        <p:spPr bwMode="auto"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8429021" name="Рисунок 31"/>
          <p:cNvSpPr>
            <a:spLocks noGrp="1"/>
          </p:cNvSpPr>
          <p:nvPr>
            <p:ph type="pic" sz="quarter" idx="23"/>
          </p:nvPr>
        </p:nvSpPr>
        <p:spPr bwMode="auto"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13221116" name="Рисунок 31"/>
          <p:cNvSpPr>
            <a:spLocks noGrp="1"/>
          </p:cNvSpPr>
          <p:nvPr>
            <p:ph type="pic" sz="quarter" idx="24"/>
          </p:nvPr>
        </p:nvSpPr>
        <p:spPr bwMode="auto"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graphicFrame>
        <p:nvGraphicFramePr>
          <p:cNvPr id="1055878036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055878036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21343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09937842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70041929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6243822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66392514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88664756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6929082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875199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 в три или четыре строки (14 pt)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диаграмм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52705058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552705058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751324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93339965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343945787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92088847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485850516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64619093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12383050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277431384" name="Диаграмма 32"/>
          <p:cNvSpPr>
            <a:spLocks noGrp="1"/>
          </p:cNvSpPr>
          <p:nvPr>
            <p:ph type="chart" sz="quarter" idx="20"/>
          </p:nvPr>
        </p:nvSpPr>
        <p:spPr bwMode="auto"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66717939" name="Текст 4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712771556" name="Диаграмма 32"/>
          <p:cNvSpPr>
            <a:spLocks noGrp="1"/>
          </p:cNvSpPr>
          <p:nvPr>
            <p:ph type="chart" sz="quarter" idx="22"/>
          </p:nvPr>
        </p:nvSpPr>
        <p:spPr bwMode="auto"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5679728" name="Текст 4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2076623595" name="Диаграмма 32"/>
          <p:cNvSpPr>
            <a:spLocks noGrp="1"/>
          </p:cNvSpPr>
          <p:nvPr>
            <p:ph type="chart" sz="quarter" idx="24"/>
          </p:nvPr>
        </p:nvSpPr>
        <p:spPr bwMode="auto"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79638729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379638729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374876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55963409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06079396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4613915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590665948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88539809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93607922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-резюм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6997474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569974742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383363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26904711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12623925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203493855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42948238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756315274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7" name="Полилиния: фигура 16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Фрязин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6874441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081226">
            <a:off x="8502882" y="3391156"/>
            <a:ext cx="4641365" cy="4643943"/>
          </a:xfrm>
          <a:prstGeom prst="rect">
            <a:avLst/>
          </a:prstGeom>
        </p:spPr>
      </p:pic>
      <p:pic>
        <p:nvPicPr>
          <p:cNvPr id="298861975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1749961764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120234974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20234974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177071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795655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4772116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8703737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grpSp>
        <p:nvGrpSpPr>
          <p:cNvPr id="38596404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348296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2292085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chemeClr val="accent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897983719" name="Текст 3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03656158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103656158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498664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53445238" name="Рисунок 2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 rot="16199999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886786682" name="Полилиния: фигура 2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14959457" name="Рисунок 24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134795811" name="Прямоугольник 25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45078169" name="Прямоугольник 26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36409139" name="Рисунок 27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7837171">
            <a:off x="1128220" y="896378"/>
            <a:ext cx="3912557" cy="3912557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586814896" name="Title 1"/>
          <p:cNvSpPr txBox="1"/>
          <p:nvPr userDrawn="1"/>
        </p:nvSpPr>
        <p:spPr bwMode="auto"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7E40"/>
                </a:solidFill>
                <a:latin typeface="Arial"/>
                <a:ea typeface="+mj-ea"/>
                <a:cs typeface="+mj-cs"/>
              </a:rPr>
              <a:t>Институт искусственного интеллекта</a:t>
            </a:r>
            <a:endParaRPr/>
          </a:p>
        </p:txBody>
      </p:sp>
      <p:grpSp>
        <p:nvGrpSpPr>
          <p:cNvPr id="15712577" name="Группа 3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038088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5130089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7E40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09403297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4201688" name="Рисунок 5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1258014022" name="Рисунок 5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8099999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151028612" name="Рисунок 5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158539438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585394382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74791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54947938" name="Полилиния: фигура 5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9543317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18154432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42528450" name="Title 1"/>
          <p:cNvSpPr txBox="1"/>
          <p:nvPr userDrawn="1"/>
        </p:nvSpPr>
        <p:spPr bwMode="auto">
          <a:xfrm>
            <a:off x="2402922" y="167207"/>
            <a:ext cx="4926206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j-ea"/>
                <a:cs typeface="+mj-cs"/>
              </a:rPr>
              <a:t>Институт тонких химических технологий имени М.В. Ломоносова</a:t>
            </a:r>
            <a:endParaRPr/>
          </a:p>
        </p:txBody>
      </p:sp>
      <p:grpSp>
        <p:nvGrpSpPr>
          <p:cNvPr id="926022178" name="Группа 19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84191580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4253346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6397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2690266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4_Обложка ИИ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9054672" name="Рисунок 8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2059399461" name="Рисунок 8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41767449" name="Рисунок 8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84391499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84391499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30122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04254808" name="Полилиния: фигура 54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35151280" name="Прямоугольник 56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95383652" name="Прямоугольник 57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8199" name="Title 1"/>
          <p:cNvSpPr txBox="1"/>
          <p:nvPr userDrawn="1"/>
        </p:nvSpPr>
        <p:spPr bwMode="auto"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06F6F"/>
                </a:solidFill>
                <a:latin typeface="Arial"/>
                <a:ea typeface="+mj-ea"/>
                <a:cs typeface="+mj-cs"/>
              </a:rPr>
              <a:t>Институт информационных технологий</a:t>
            </a:r>
            <a:endParaRPr/>
          </a:p>
        </p:txBody>
      </p:sp>
      <p:grpSp>
        <p:nvGrpSpPr>
          <p:cNvPr id="1825487733" name="Группа 6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773501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18590589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06F6F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42469079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1267090" name="Рисунок 6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2038224275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2104739048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116483199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16483199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8555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88850206" name="Полилиния: фигура 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13925438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20277060" name="Прямоугольник 15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499232132" name="Title 1"/>
          <p:cNvSpPr txBox="1"/>
          <p:nvPr userDrawn="1"/>
        </p:nvSpPr>
        <p:spPr bwMode="auto"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4C33"/>
                </a:solidFill>
                <a:latin typeface="Arial"/>
                <a:ea typeface="+mj-ea"/>
                <a:cs typeface="+mj-cs"/>
              </a:rPr>
              <a:t>Институт технологий управления</a:t>
            </a:r>
            <a:endParaRPr/>
          </a:p>
        </p:txBody>
      </p:sp>
      <p:grpSp>
        <p:nvGrpSpPr>
          <p:cNvPr id="66416714" name="Группа 2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3071121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01273187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4C3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36936914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5300321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1179634104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1954985887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109852114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09852114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93828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25054010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01196567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43635951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45786088" name="Title 1"/>
          <p:cNvSpPr txBox="1"/>
          <p:nvPr userDrawn="1"/>
        </p:nvSpPr>
        <p:spPr bwMode="auto">
          <a:xfrm>
            <a:off x="2402922" y="154725"/>
            <a:ext cx="7202131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Институт перспективных технологий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 индустриального программирования</a:t>
            </a:r>
            <a:endParaRPr/>
          </a:p>
        </p:txBody>
      </p:sp>
      <p:grpSp>
        <p:nvGrpSpPr>
          <p:cNvPr id="685576983" name="Группа 2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32463558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10682302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9B622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59378418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Р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8081300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5717" y="3300803"/>
            <a:ext cx="4997470" cy="4997470"/>
          </a:xfrm>
          <a:prstGeom prst="rect">
            <a:avLst/>
          </a:prstGeom>
        </p:spPr>
      </p:pic>
      <p:pic>
        <p:nvPicPr>
          <p:cNvPr id="2081197182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1741305378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8384" y="3067903"/>
            <a:ext cx="6877515" cy="741710"/>
          </a:xfrm>
          <a:prstGeom prst="rect">
            <a:avLst/>
          </a:prstGeom>
        </p:spPr>
      </p:pic>
      <p:graphicFrame>
        <p:nvGraphicFramePr>
          <p:cNvPr id="36166430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61664302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05647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6212421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36802559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33809893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85310178" name="Title 1"/>
          <p:cNvSpPr txBox="1"/>
          <p:nvPr userDrawn="1"/>
        </p:nvSpPr>
        <p:spPr bwMode="auto"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Arial"/>
                <a:ea typeface="+mj-ea"/>
                <a:cs typeface="+mj-cs"/>
              </a:rPr>
              <a:t>Институт радиоэлектроники и информатики</a:t>
            </a:r>
            <a:endParaRPr/>
          </a:p>
        </p:txBody>
      </p:sp>
      <p:grpSp>
        <p:nvGrpSpPr>
          <p:cNvPr id="1509075707" name="Группа 22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52994289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06870516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1207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2526784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ИК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4072555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42718854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414699372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1560763774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560763774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75781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75216868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81873816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31894759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0139477" name="Title 1"/>
          <p:cNvSpPr txBox="1"/>
          <p:nvPr userDrawn="1"/>
        </p:nvSpPr>
        <p:spPr bwMode="auto">
          <a:xfrm>
            <a:off x="2402923" y="368869"/>
            <a:ext cx="3476768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6D81"/>
                </a:solidFill>
                <a:latin typeface="Arial"/>
                <a:ea typeface="+mj-ea"/>
                <a:cs typeface="+mj-cs"/>
              </a:rPr>
              <a:t>Институт кибербезопасности и цифровых технологий</a:t>
            </a:r>
            <a:endParaRPr/>
          </a:p>
        </p:txBody>
      </p:sp>
      <p:grpSp>
        <p:nvGrpSpPr>
          <p:cNvPr id="1565488134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0607651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35098856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6D81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822926813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_Обложка Коллед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5346359" name="Рисунок 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9899999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1536356273" name="Рисунок 5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1058664836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36615386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66153865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595126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81915496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6226680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069482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30514555" name="Title 1"/>
          <p:cNvSpPr txBox="1"/>
          <p:nvPr userDrawn="1"/>
        </p:nvSpPr>
        <p:spPr bwMode="auto">
          <a:xfrm>
            <a:off x="2402922" y="180857"/>
            <a:ext cx="6402705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Колледж программирования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и кибербезопасности</a:t>
            </a:r>
            <a:endParaRPr/>
          </a:p>
        </p:txBody>
      </p:sp>
      <p:grpSp>
        <p:nvGrpSpPr>
          <p:cNvPr id="1650417218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9475367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71893238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A712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894577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Обложка ПИ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3700225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2019377264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1493068775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109800971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098009717" name="Object 8" hidden="1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9716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596379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98263874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9630130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7124711" name="Title 1"/>
          <p:cNvSpPr txBox="1"/>
          <p:nvPr userDrawn="1"/>
        </p:nvSpPr>
        <p:spPr bwMode="auto">
          <a:xfrm>
            <a:off x="2402922" y="200292"/>
            <a:ext cx="8289422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Передовая инженерная школа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СВЧ-электроники</a:t>
            </a:r>
            <a:endParaRPr/>
          </a:p>
        </p:txBody>
      </p:sp>
      <p:grpSp>
        <p:nvGrpSpPr>
          <p:cNvPr id="98695378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66198387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6762660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3D378D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4995054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Раздел_темны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827189630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827189630" name="Object 8" hidden="1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591719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6641575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850600" y="2613958"/>
            <a:ext cx="5569500" cy="69940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>
                <a:solidFill>
                  <a:schemeClr val="accent5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sp>
        <p:nvSpPr>
          <p:cNvPr id="193176408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8697022" name="Прямоугольник 21"/>
          <p:cNvSpPr/>
          <p:nvPr userDrawn="1"/>
        </p:nvSpPr>
        <p:spPr bwMode="auto"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ru-RU" sz="1200">
              <a:solidFill>
                <a:schemeClr val="tx1"/>
              </a:solidFill>
              <a:latin typeface="Arial"/>
            </a:endParaRPr>
          </a:p>
        </p:txBody>
      </p:sp>
      <p:cxnSp>
        <p:nvCxnSpPr>
          <p:cNvPr id="155754570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4611540" name="object 4"/>
          <p:cNvPicPr/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0198467" name="Заголовок 6"/>
          <p:cNvSpPr txBox="1"/>
          <p:nvPr userDrawn="1"/>
        </p:nvSpPr>
        <p:spPr bwMode="auto"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j-ea"/>
              <a:cs typeface="+mj-cs"/>
            </a:endParaRPr>
          </a:p>
        </p:txBody>
      </p:sp>
      <p:sp>
        <p:nvSpPr>
          <p:cNvPr id="1064877062" name="object 5"/>
          <p:cNvSpPr/>
          <p:nvPr userDrawn="1"/>
        </p:nvSpPr>
        <p:spPr bwMode="auto"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 extrusionOk="0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275375" name="object 6"/>
          <p:cNvSpPr/>
          <p:nvPr userDrawn="1"/>
        </p:nvSpPr>
        <p:spPr bwMode="auto"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 extrusionOk="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1786621264" name="object 214"/>
          <p:cNvPicPr/>
          <p:nvPr userDrawn="1"/>
        </p:nvPicPr>
        <p:blipFill rotWithShape="1">
          <a:blip r:embed="rId3"/>
          <a:stretch/>
        </p:blipFill>
        <p:spPr bwMode="auto">
          <a:xfrm>
            <a:off x="1634170" y="1851797"/>
            <a:ext cx="1784387" cy="1784641"/>
          </a:xfrm>
          <a:prstGeom prst="rect">
            <a:avLst/>
          </a:prstGeom>
        </p:spPr>
      </p:pic>
      <p:pic>
        <p:nvPicPr>
          <p:cNvPr id="1355616749" name="object 215"/>
          <p:cNvPicPr/>
          <p:nvPr userDrawn="1"/>
        </p:nvPicPr>
        <p:blipFill rotWithShape="1">
          <a:blip r:embed="rId4"/>
          <a:stretch/>
        </p:blipFill>
        <p:spPr bwMode="auto"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012445619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b="1">
                <a:solidFill>
                  <a:schemeClr val="bg1"/>
                </a:solidFill>
                <a:latin typeface="Arial"/>
                <a:ea typeface="+mj-ea"/>
                <a:cs typeface="+mj-cs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22148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1507249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4492413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150527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5757500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18087687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72394321" name="Объект 6"/>
          <p:cNvGraphicFramePr>
            <a:graphicFrameLocks noChangeAspect="1"/>
          </p:cNvGraphicFramePr>
          <p:nvPr/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2" imgW="0" imgH="0" progId="TCLayout.ActiveDocument.1">
                  <p:embed/>
                </p:oleObj>
              </mc:Choice>
              <mc:Fallback>
                <p:oleObj name="oleObj" r:id="rId22" imgW="0" imgH="0" progId="TCLayout.ActiveDocument.1">
                  <p:embed/>
                  <p:pic>
                    <p:nvPicPr>
                      <p:cNvPr id="472394321" name="Объект 6" hidden="1"/>
                      <p:cNvPicPr/>
                      <p:nvPr/>
                    </p:nvPicPr>
                    <p:blipFill rotWithShape="1">
                      <a:blip r:embed="rId23"/>
                      <a:stretch/>
                    </p:blipFill>
                    <p:spPr bwMode="auto"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5329969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pt) </a:t>
            </a:r>
            <a:endParaRPr/>
          </a:p>
        </p:txBody>
      </p:sp>
      <p:grpSp>
        <p:nvGrpSpPr>
          <p:cNvPr id="1728880389" name="ИЦ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02663" cy="321812"/>
            <a:chOff x="664784" y="6387626"/>
            <a:chExt cx="802663" cy="321812"/>
          </a:xfrm>
          <a:solidFill>
            <a:srgbClr val="6C3F98"/>
          </a:solidFill>
        </p:grpSpPr>
        <p:grpSp>
          <p:nvGrpSpPr>
            <p:cNvPr id="69" name="Группа 68"/>
            <p:cNvGrpSpPr/>
            <p:nvPr userDrawn="1"/>
          </p:nvGrpSpPr>
          <p:grpSpPr bwMode="auto">
            <a:xfrm>
              <a:off x="664784" y="6387626"/>
              <a:ext cx="268176" cy="321812"/>
              <a:chOff x="664784" y="6387626"/>
              <a:chExt cx="268176" cy="321812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64784" y="6387626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 extrusionOk="0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 extrusionOk="0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 extrusionOk="0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68529" y="6496684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 extrusionOk="0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/>
            <p:cNvGrpSpPr/>
            <p:nvPr userDrawn="1"/>
          </p:nvGrpSpPr>
          <p:grpSpPr bwMode="auto"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 extrusionOk="0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 extrusionOk="0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 extrusionOk="0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/>
              <p:cNvSpPr/>
              <p:nvPr/>
            </p:nvSpPr>
            <p:spPr bwMode="auto"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/>
              <p:cNvSpPr/>
              <p:nvPr/>
            </p:nvSpPr>
            <p:spPr bwMode="auto"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/>
              <p:cNvSpPr/>
              <p:nvPr/>
            </p:nvSpPr>
            <p:spPr bwMode="auto"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 extrusionOk="0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/>
              <p:cNvSpPr/>
              <p:nvPr/>
            </p:nvSpPr>
            <p:spPr bwMode="auto"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 extrusionOk="0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/>
              <p:cNvSpPr/>
              <p:nvPr/>
            </p:nvSpPr>
            <p:spPr bwMode="auto"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/>
              <p:cNvSpPr/>
              <p:nvPr/>
            </p:nvSpPr>
            <p:spPr bwMode="auto"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/>
              <p:cNvSpPr/>
              <p:nvPr/>
            </p:nvSpPr>
            <p:spPr bwMode="auto"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/>
              <p:cNvSpPr/>
              <p:nvPr/>
            </p:nvSpPr>
            <p:spPr bwMode="auto"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/>
              <p:cNvSpPr/>
              <p:nvPr/>
            </p:nvSpPr>
            <p:spPr bwMode="auto"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548478" name="Московский транспорт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/>
            <p:cNvSpPr/>
            <p:nvPr/>
          </p:nvSpPr>
          <p:spPr bwMode="auto"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 extrusionOk="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/>
            <p:cNvSpPr/>
            <p:nvPr/>
          </p:nvSpPr>
          <p:spPr bwMode="auto"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/>
            <p:cNvSpPr/>
            <p:nvPr/>
          </p:nvSpPr>
          <p:spPr bwMode="auto"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/>
            <p:cNvSpPr/>
            <p:nvPr/>
          </p:nvSpPr>
          <p:spPr bwMode="auto"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/>
            <p:cNvSpPr/>
            <p:nvPr/>
          </p:nvSpPr>
          <p:spPr bwMode="auto"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/>
            <p:cNvSpPr/>
            <p:nvPr/>
          </p:nvSpPr>
          <p:spPr bwMode="auto"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/>
            <p:cNvSpPr/>
            <p:nvPr/>
          </p:nvSpPr>
          <p:spPr bwMode="auto"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/>
            <p:cNvSpPr/>
            <p:nvPr/>
          </p:nvSpPr>
          <p:spPr bwMode="auto"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/>
            <p:cNvSpPr/>
            <p:nvPr/>
          </p:nvSpPr>
          <p:spPr bwMode="auto"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/>
            <p:cNvSpPr/>
            <p:nvPr/>
          </p:nvSpPr>
          <p:spPr bwMode="auto"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/>
            <p:cNvSpPr/>
            <p:nvPr/>
          </p:nvSpPr>
          <p:spPr bwMode="auto"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/>
            <p:cNvSpPr/>
            <p:nvPr/>
          </p:nvSpPr>
          <p:spPr bwMode="auto"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/>
            <p:cNvSpPr/>
            <p:nvPr/>
          </p:nvSpPr>
          <p:spPr bwMode="auto"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/>
            <p:cNvSpPr/>
            <p:nvPr/>
          </p:nvSpPr>
          <p:spPr bwMode="auto"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/>
            <p:cNvSpPr/>
            <p:nvPr/>
          </p:nvSpPr>
          <p:spPr bwMode="auto"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/>
            <p:cNvSpPr/>
            <p:nvPr/>
          </p:nvSpPr>
          <p:spPr bwMode="auto"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/>
            <p:cNvSpPr/>
            <p:nvPr/>
          </p:nvSpPr>
          <p:spPr bwMode="auto"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/>
            <p:cNvSpPr/>
            <p:nvPr/>
          </p:nvSpPr>
          <p:spPr bwMode="auto"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/>
            <p:cNvSpPr/>
            <p:nvPr/>
          </p:nvSpPr>
          <p:spPr bwMode="auto"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/>
            <p:cNvSpPr/>
            <p:nvPr/>
          </p:nvSpPr>
          <p:spPr bwMode="auto"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123366697" name="Московский метрополитен" hidden="1"/>
          <p:cNvGrpSpPr>
            <a:grpSpLocks noChangeAspect="1"/>
          </p:cNvGrpSpPr>
          <p:nvPr userDrawn="1"/>
        </p:nvGrpSpPr>
        <p:grpSpPr bwMode="auto"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/>
            <p:cNvSpPr/>
            <p:nvPr/>
          </p:nvSpPr>
          <p:spPr bwMode="auto"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/>
            <p:cNvSpPr/>
            <p:nvPr/>
          </p:nvSpPr>
          <p:spPr bwMode="auto"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/>
            <p:cNvSpPr/>
            <p:nvPr/>
          </p:nvSpPr>
          <p:spPr bwMode="auto"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/>
            <p:cNvSpPr/>
            <p:nvPr/>
          </p:nvSpPr>
          <p:spPr bwMode="auto"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/>
            <p:cNvSpPr/>
            <p:nvPr/>
          </p:nvSpPr>
          <p:spPr bwMode="auto"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/>
            <p:cNvSpPr/>
            <p:nvPr/>
          </p:nvSpPr>
          <p:spPr bwMode="auto"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/>
            <p:cNvSpPr/>
            <p:nvPr/>
          </p:nvSpPr>
          <p:spPr bwMode="auto"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/>
            <p:cNvSpPr/>
            <p:nvPr/>
          </p:nvSpPr>
          <p:spPr bwMode="auto"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/>
            <p:cNvSpPr/>
            <p:nvPr/>
          </p:nvSpPr>
          <p:spPr bwMode="auto"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/>
            <p:cNvSpPr/>
            <p:nvPr/>
          </p:nvSpPr>
          <p:spPr bwMode="auto"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/>
            <p:cNvSpPr/>
            <p:nvPr/>
          </p:nvSpPr>
          <p:spPr bwMode="auto"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 extrusionOk="0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/>
            <p:cNvSpPr/>
            <p:nvPr/>
          </p:nvSpPr>
          <p:spPr bwMode="auto"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/>
            <p:cNvSpPr/>
            <p:nvPr/>
          </p:nvSpPr>
          <p:spPr bwMode="auto"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/>
            <p:cNvSpPr/>
            <p:nvPr/>
          </p:nvSpPr>
          <p:spPr bwMode="auto">
            <a:xfrm>
              <a:off x="5087424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/>
            <p:cNvSpPr/>
            <p:nvPr/>
          </p:nvSpPr>
          <p:spPr bwMode="auto"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/>
            <p:cNvSpPr/>
            <p:nvPr/>
          </p:nvSpPr>
          <p:spPr bwMode="auto"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/>
            <p:cNvSpPr/>
            <p:nvPr/>
          </p:nvSpPr>
          <p:spPr bwMode="auto"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/>
            <p:cNvSpPr/>
            <p:nvPr/>
          </p:nvSpPr>
          <p:spPr bwMode="auto"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/>
            <p:cNvSpPr/>
            <p:nvPr/>
          </p:nvSpPr>
          <p:spPr bwMode="auto"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/>
            <p:cNvSpPr/>
            <p:nvPr/>
          </p:nvSpPr>
          <p:spPr bwMode="auto"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/>
            <p:cNvSpPr/>
            <p:nvPr/>
          </p:nvSpPr>
          <p:spPr bwMode="auto"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/>
            <p:cNvSpPr/>
            <p:nvPr/>
          </p:nvSpPr>
          <p:spPr bwMode="auto"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/>
            <p:cNvSpPr/>
            <p:nvPr/>
          </p:nvSpPr>
          <p:spPr bwMode="auto"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 extrusionOk="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/>
            <p:cNvSpPr/>
            <p:nvPr/>
          </p:nvSpPr>
          <p:spPr bwMode="auto"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309486928" name="Мосгортранс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/>
            <p:cNvSpPr/>
            <p:nvPr/>
          </p:nvSpPr>
          <p:spPr bwMode="auto"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/>
            <p:cNvSpPr/>
            <p:nvPr/>
          </p:nvSpPr>
          <p:spPr bwMode="auto"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/>
            <p:cNvSpPr/>
            <p:nvPr/>
          </p:nvSpPr>
          <p:spPr bwMode="auto"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/>
            <p:cNvSpPr/>
            <p:nvPr/>
          </p:nvSpPr>
          <p:spPr bwMode="auto"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/>
            <p:cNvSpPr/>
            <p:nvPr/>
          </p:nvSpPr>
          <p:spPr bwMode="auto">
            <a:xfrm>
              <a:off x="6909529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/>
            <p:cNvSpPr/>
            <p:nvPr/>
          </p:nvSpPr>
          <p:spPr bwMode="auto"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/>
            <p:cNvSpPr/>
            <p:nvPr/>
          </p:nvSpPr>
          <p:spPr bwMode="auto"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/>
            <p:cNvSpPr/>
            <p:nvPr/>
          </p:nvSpPr>
          <p:spPr bwMode="auto"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/>
            <p:cNvSpPr/>
            <p:nvPr/>
          </p:nvSpPr>
          <p:spPr bwMode="auto"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/>
            <p:cNvSpPr/>
            <p:nvPr/>
          </p:nvSpPr>
          <p:spPr bwMode="auto">
            <a:xfrm>
              <a:off x="7220044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/>
            <p:cNvSpPr/>
            <p:nvPr/>
          </p:nvSpPr>
          <p:spPr bwMode="auto"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/>
            <p:cNvSpPr/>
            <p:nvPr/>
          </p:nvSpPr>
          <p:spPr bwMode="auto"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 extrusionOk="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/>
            <p:cNvSpPr/>
            <p:nvPr/>
          </p:nvSpPr>
          <p:spPr bwMode="auto"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 extrusionOk="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/>
            <p:cNvSpPr/>
            <p:nvPr/>
          </p:nvSpPr>
          <p:spPr bwMode="auto"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 extrusionOk="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034202481" name="Московский паркинг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/>
            <p:cNvSpPr/>
            <p:nvPr/>
          </p:nvSpPr>
          <p:spPr bwMode="auto"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/>
            <p:cNvSpPr/>
            <p:nvPr/>
          </p:nvSpPr>
          <p:spPr bwMode="auto"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/>
            <p:cNvSpPr/>
            <p:nvPr/>
          </p:nvSpPr>
          <p:spPr bwMode="auto"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/>
            <p:cNvSpPr/>
            <p:nvPr/>
          </p:nvSpPr>
          <p:spPr bwMode="auto"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/>
            <p:cNvSpPr/>
            <p:nvPr/>
          </p:nvSpPr>
          <p:spPr bwMode="auto"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/>
            <p:cNvSpPr/>
            <p:nvPr/>
          </p:nvSpPr>
          <p:spPr bwMode="auto"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/>
            <p:cNvSpPr/>
            <p:nvPr/>
          </p:nvSpPr>
          <p:spPr bwMode="auto"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/>
            <p:cNvSpPr/>
            <p:nvPr/>
          </p:nvSpPr>
          <p:spPr bwMode="auto"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/>
            <p:cNvSpPr/>
            <p:nvPr/>
          </p:nvSpPr>
          <p:spPr bwMode="auto"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/>
            <p:cNvSpPr/>
            <p:nvPr/>
          </p:nvSpPr>
          <p:spPr bwMode="auto"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/>
            <p:cNvSpPr/>
            <p:nvPr/>
          </p:nvSpPr>
          <p:spPr bwMode="auto"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/>
            <p:cNvSpPr/>
            <p:nvPr/>
          </p:nvSpPr>
          <p:spPr bwMode="auto"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/>
            <p:cNvSpPr/>
            <p:nvPr/>
          </p:nvSpPr>
          <p:spPr bwMode="auto"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/>
            <p:cNvSpPr/>
            <p:nvPr/>
          </p:nvSpPr>
          <p:spPr bwMode="auto"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/>
            <p:cNvSpPr/>
            <p:nvPr/>
          </p:nvSpPr>
          <p:spPr bwMode="auto"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/>
            <p:cNvSpPr/>
            <p:nvPr/>
          </p:nvSpPr>
          <p:spPr bwMode="auto"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/>
            <p:cNvSpPr/>
            <p:nvPr/>
          </p:nvSpPr>
          <p:spPr bwMode="auto"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/>
            <p:cNvSpPr/>
            <p:nvPr/>
          </p:nvSpPr>
          <p:spPr bwMode="auto"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/>
            <p:cNvSpPr/>
            <p:nvPr/>
          </p:nvSpPr>
          <p:spPr bwMode="auto"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 extrusionOk="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/>
            <p:cNvSpPr/>
            <p:nvPr/>
          </p:nvSpPr>
          <p:spPr bwMode="auto"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 extrusionOk="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12763640" name="Такси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559622" cy="319479"/>
            <a:chOff x="4975650" y="3912408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/>
            <p:cNvSpPr/>
            <p:nvPr/>
          </p:nvSpPr>
          <p:spPr bwMode="auto"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/>
            <p:cNvSpPr/>
            <p:nvPr/>
          </p:nvSpPr>
          <p:spPr bwMode="auto">
            <a:xfrm>
              <a:off x="5454852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/>
            <p:cNvSpPr/>
            <p:nvPr/>
          </p:nvSpPr>
          <p:spPr bwMode="auto"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/>
            <p:cNvSpPr/>
            <p:nvPr/>
          </p:nvSpPr>
          <p:spPr bwMode="auto"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/>
            <p:cNvSpPr/>
            <p:nvPr/>
          </p:nvSpPr>
          <p:spPr bwMode="auto"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/>
            <p:cNvSpPr/>
            <p:nvPr/>
          </p:nvSpPr>
          <p:spPr bwMode="auto">
            <a:xfrm>
              <a:off x="4975650" y="3912408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/>
            <p:cNvSpPr/>
            <p:nvPr/>
          </p:nvSpPr>
          <p:spPr bwMode="auto"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 extrusionOk="0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/>
            <p:cNvSpPr/>
            <p:nvPr/>
          </p:nvSpPr>
          <p:spPr bwMode="auto">
            <a:xfrm>
              <a:off x="5085759" y="4125197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 extrusionOk="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944293768" name="ОП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57364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/>
            <p:cNvSpPr/>
            <p:nvPr/>
          </p:nvSpPr>
          <p:spPr bwMode="auto"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 extrusionOk="0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/>
            <p:cNvSpPr/>
            <p:nvPr/>
          </p:nvSpPr>
          <p:spPr bwMode="auto"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/>
            <p:cNvSpPr/>
            <p:nvPr/>
          </p:nvSpPr>
          <p:spPr bwMode="auto"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 extrusionOk="0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/>
            <p:cNvSpPr/>
            <p:nvPr/>
          </p:nvSpPr>
          <p:spPr bwMode="auto"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/>
            <p:cNvSpPr/>
            <p:nvPr/>
          </p:nvSpPr>
          <p:spPr bwMode="auto"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/>
            <p:cNvSpPr/>
            <p:nvPr/>
          </p:nvSpPr>
          <p:spPr bwMode="auto"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/>
            <p:cNvSpPr/>
            <p:nvPr/>
          </p:nvSpPr>
          <p:spPr bwMode="auto"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extrusionOk="0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/>
            <p:cNvSpPr/>
            <p:nvPr/>
          </p:nvSpPr>
          <p:spPr bwMode="auto"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/>
            <p:cNvSpPr/>
            <p:nvPr/>
          </p:nvSpPr>
          <p:spPr bwMode="auto"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/>
            <p:cNvSpPr/>
            <p:nvPr/>
          </p:nvSpPr>
          <p:spPr bwMode="auto"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/>
            <p:cNvSpPr/>
            <p:nvPr/>
          </p:nvSpPr>
          <p:spPr bwMode="auto"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/>
            <p:cNvSpPr/>
            <p:nvPr/>
          </p:nvSpPr>
          <p:spPr bwMode="auto"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/>
            <p:cNvSpPr/>
            <p:nvPr/>
          </p:nvSpPr>
          <p:spPr bwMode="auto">
            <a:xfrm>
              <a:off x="5349303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/>
            <p:cNvSpPr/>
            <p:nvPr/>
          </p:nvSpPr>
          <p:spPr bwMode="auto"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/>
            <p:cNvSpPr/>
            <p:nvPr/>
          </p:nvSpPr>
          <p:spPr bwMode="auto"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/>
            <p:cNvSpPr/>
            <p:nvPr/>
          </p:nvSpPr>
          <p:spPr bwMode="auto"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/>
            <p:cNvSpPr/>
            <p:nvPr/>
          </p:nvSpPr>
          <p:spPr bwMode="auto"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/>
            <p:cNvSpPr/>
            <p:nvPr/>
          </p:nvSpPr>
          <p:spPr bwMode="auto"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extrusionOk="0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/>
            <p:cNvSpPr/>
            <p:nvPr/>
          </p:nvSpPr>
          <p:spPr bwMode="auto"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/>
            <p:cNvSpPr/>
            <p:nvPr/>
          </p:nvSpPr>
          <p:spPr bwMode="auto"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/>
            <p:cNvSpPr/>
            <p:nvPr/>
          </p:nvSpPr>
          <p:spPr bwMode="auto"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 extrusionOk="0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/>
            <p:cNvSpPr/>
            <p:nvPr/>
          </p:nvSpPr>
          <p:spPr bwMode="auto"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/>
            <p:cNvSpPr/>
            <p:nvPr/>
          </p:nvSpPr>
          <p:spPr bwMode="auto"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 extrusionOk="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39875912" name="Велотранспорт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/>
            <p:cNvSpPr/>
            <p:nvPr/>
          </p:nvSpPr>
          <p:spPr bwMode="auto">
            <a:xfrm>
              <a:off x="5615548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 extrusionOk="0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/>
            <p:cNvSpPr/>
            <p:nvPr/>
          </p:nvSpPr>
          <p:spPr bwMode="auto"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 extrusionOk="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/>
            <p:cNvSpPr/>
            <p:nvPr/>
          </p:nvSpPr>
          <p:spPr bwMode="auto"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 extrusionOk="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/>
            <p:cNvSpPr/>
            <p:nvPr/>
          </p:nvSpPr>
          <p:spPr bwMode="auto"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 extrusionOk="0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/>
            <p:cNvSpPr/>
            <p:nvPr/>
          </p:nvSpPr>
          <p:spPr bwMode="auto"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 extrusionOk="0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/>
            <p:cNvSpPr/>
            <p:nvPr/>
          </p:nvSpPr>
          <p:spPr bwMode="auto">
            <a:xfrm>
              <a:off x="5912167" y="3362324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 extrusionOk="0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 extrusionOk="0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 bwMode="auto"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 extrusionOk="0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 bwMode="auto"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 extrusionOk="0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 extrusionOk="0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 extrusionOk="0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 extrusionOk="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 extrusionOk="0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 extrusionOk="0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/>
  <p:txStyles>
    <p:titleStyle>
      <a:lvl1pPr algn="l" defTabSz="914446" rtl="0">
        <a:lnSpc>
          <a:spcPct val="100000"/>
        </a:lnSpc>
        <a:spcBef>
          <a:spcPts val="0"/>
        </a:spcBef>
        <a:buNone/>
        <a:defRPr lang="en-US" sz="2400" b="1">
          <a:solidFill>
            <a:schemeClr val="accent5"/>
          </a:solidFill>
          <a:latin typeface="Arial"/>
          <a:ea typeface="+mj-ea"/>
          <a:cs typeface="+mj-cs"/>
        </a:defRPr>
      </a:lvl1pPr>
    </p:titleStyle>
    <p:bodyStyle>
      <a:lvl1pPr marL="0" indent="0" algn="l" defTabSz="914446" rtl="0">
        <a:lnSpc>
          <a:spcPct val="100000"/>
        </a:lnSpc>
        <a:spcBef>
          <a:spcPts val="0"/>
        </a:spcBef>
        <a:buClr>
          <a:schemeClr val="accent4"/>
        </a:buClr>
        <a:buFont typeface="Wingdings"/>
        <a:buNone/>
        <a:defRPr lang="ru-RU" sz="120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Wingdings"/>
        <a:buChar char="§"/>
        <a:defRPr lang="ru-RU" sz="120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−"/>
        <a:defRPr lang="ru-RU" sz="120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▫"/>
        <a:defRPr lang="ru-RU" sz="120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-"/>
        <a:defRPr lang="en-US" sz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33807" name="Заголовок 7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solidFill>
                  <a:srgbClr val="142346"/>
                </a:solidFill>
              </a:rPr>
              <a:t>Telegram Mini App </a:t>
            </a:r>
            <a:r>
              <a:rPr lang="ru-RU" dirty="0">
                <a:solidFill>
                  <a:srgbClr val="142346"/>
                </a:solidFill>
              </a:rPr>
              <a:t>маркетплейс</a:t>
            </a:r>
            <a:endParaRPr dirty="0"/>
          </a:p>
        </p:txBody>
      </p:sp>
      <p:sp>
        <p:nvSpPr>
          <p:cNvPr id="1362476454" name="Текст 8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Исаков И.А.</a:t>
            </a:r>
            <a:endParaRPr dirty="0"/>
          </a:p>
        </p:txBody>
      </p:sp>
      <p:sp>
        <p:nvSpPr>
          <p:cNvPr id="1665933808" name="TextBox 1665933807"/>
          <p:cNvSpPr txBox="1"/>
          <p:nvPr/>
        </p:nvSpPr>
        <p:spPr>
          <a:xfrm>
            <a:off x="566928" y="1417320"/>
            <a:ext cx="102412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endParaRPr sz="3300" b="1" dirty="0">
              <a:solidFill>
                <a:srgbClr val="142346"/>
              </a:solidFill>
            </a:endParaRPr>
          </a:p>
        </p:txBody>
      </p:sp>
      <p:sp>
        <p:nvSpPr>
          <p:cNvPr id="1665933810" name="TextBox 1665933809"/>
          <p:cNvSpPr txBox="1"/>
          <p:nvPr/>
        </p:nvSpPr>
        <p:spPr>
          <a:xfrm>
            <a:off x="1463040" y="4892040"/>
            <a:ext cx="91440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 dirty="0">
                <a:solidFill>
                  <a:srgbClr val="5A5A5A"/>
                </a:solidFill>
              </a:rPr>
              <a:t>ДПП ПП «</a:t>
            </a:r>
            <a:r>
              <a:rPr sz="1200" b="0" dirty="0" err="1">
                <a:solidFill>
                  <a:srgbClr val="5A5A5A"/>
                </a:solidFill>
              </a:rPr>
              <a:t>Фронтенд</a:t>
            </a:r>
            <a:r>
              <a:rPr sz="1200" b="0" dirty="0">
                <a:solidFill>
                  <a:srgbClr val="5A5A5A"/>
                </a:solidFill>
              </a:rPr>
              <a:t> и </a:t>
            </a:r>
            <a:r>
              <a:rPr sz="1200" b="0" dirty="0" err="1">
                <a:solidFill>
                  <a:srgbClr val="5A5A5A"/>
                </a:solidFill>
              </a:rPr>
              <a:t>бэкенд</a:t>
            </a:r>
            <a:r>
              <a:rPr sz="1200" b="0" dirty="0">
                <a:solidFill>
                  <a:srgbClr val="5A5A5A"/>
                </a:solidFill>
              </a:rPr>
              <a:t> </a:t>
            </a:r>
            <a:r>
              <a:rPr sz="1200" b="0" dirty="0" err="1">
                <a:solidFill>
                  <a:srgbClr val="5A5A5A"/>
                </a:solidFill>
              </a:rPr>
              <a:t>разработка</a:t>
            </a:r>
            <a:r>
              <a:rPr sz="1200" b="0" dirty="0">
                <a:solidFill>
                  <a:srgbClr val="5A5A5A"/>
                </a:solidFill>
              </a:rPr>
              <a:t>»
</a:t>
            </a:r>
            <a:r>
              <a:rPr sz="1200" b="0" dirty="0" err="1">
                <a:solidFill>
                  <a:srgbClr val="5A5A5A"/>
                </a:solidFill>
              </a:rPr>
              <a:t>Выполнил</a:t>
            </a:r>
            <a:r>
              <a:rPr sz="1200" b="0" dirty="0">
                <a:solidFill>
                  <a:srgbClr val="5A5A5A"/>
                </a:solidFill>
              </a:rPr>
              <a:t>: </a:t>
            </a:r>
            <a:r>
              <a:rPr sz="1200" b="0" dirty="0" err="1">
                <a:solidFill>
                  <a:srgbClr val="5A5A5A"/>
                </a:solidFill>
              </a:rPr>
              <a:t>студент</a:t>
            </a:r>
            <a:r>
              <a:rPr sz="1200" b="0" dirty="0">
                <a:solidFill>
                  <a:srgbClr val="5A5A5A"/>
                </a:solidFill>
              </a:rPr>
              <a:t> </a:t>
            </a:r>
            <a:r>
              <a:rPr sz="1200" b="0" dirty="0" err="1">
                <a:solidFill>
                  <a:srgbClr val="5A5A5A"/>
                </a:solidFill>
              </a:rPr>
              <a:t>группы</a:t>
            </a:r>
            <a:r>
              <a:rPr sz="1200" b="0" dirty="0">
                <a:solidFill>
                  <a:srgbClr val="5A5A5A"/>
                </a:solidFill>
              </a:rPr>
              <a:t> </a:t>
            </a:r>
            <a:r>
              <a:rPr lang="ru-RU" sz="1200" b="0" dirty="0">
                <a:solidFill>
                  <a:srgbClr val="5A5A5A"/>
                </a:solidFill>
              </a:rPr>
              <a:t>ЭФБО-01-24 </a:t>
            </a:r>
            <a:r>
              <a:rPr sz="1200" b="0" dirty="0">
                <a:solidFill>
                  <a:srgbClr val="5A5A5A"/>
                </a:solidFill>
              </a:rPr>
              <a:t>ФИО:</a:t>
            </a:r>
            <a:r>
              <a:rPr lang="ru-RU" sz="1200" dirty="0">
                <a:solidFill>
                  <a:srgbClr val="5A5A5A"/>
                </a:solidFill>
              </a:rPr>
              <a:t>Исаков Иван Андреевич</a:t>
            </a:r>
            <a:endParaRPr sz="1200" b="0" dirty="0">
              <a:solidFill>
                <a:srgbClr val="5A5A5A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593940" name="Подзаголовок 22"/>
          <p:cNvSpPr>
            <a:spLocks noGrp="1"/>
          </p:cNvSpPr>
          <p:nvPr>
            <p:ph type="subTitle" idx="1"/>
          </p:nvPr>
        </p:nvSpPr>
        <p:spPr bwMode="auto">
          <a:xfrm>
            <a:off x="336000" y="908725"/>
            <a:ext cx="10130208" cy="4308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F5F5F"/>
                </a:solidFill>
              </a:rPr>
              <a:t>Проект: маркетплейс одежды и аксессуаров в формате </a:t>
            </a:r>
            <a:r>
              <a:rPr lang="ru-RU" dirty="0" err="1">
                <a:solidFill>
                  <a:srgbClr val="5F5F5F"/>
                </a:solidFill>
              </a:rPr>
              <a:t>Telegram</a:t>
            </a:r>
            <a:r>
              <a:rPr lang="ru-RU" dirty="0">
                <a:solidFill>
                  <a:srgbClr val="5F5F5F"/>
                </a:solidFill>
              </a:rPr>
              <a:t> Mini </a:t>
            </a:r>
            <a:r>
              <a:rPr lang="ru-RU" dirty="0" err="1">
                <a:solidFill>
                  <a:srgbClr val="5F5F5F"/>
                </a:solidFill>
              </a:rPr>
              <a:t>App</a:t>
            </a:r>
            <a:endParaRPr lang="ru-RU" dirty="0">
              <a:solidFill>
                <a:srgbClr val="5F5F5F"/>
              </a:solidFill>
            </a:endParaRPr>
          </a:p>
          <a:p>
            <a:pPr>
              <a:defRPr/>
            </a:pPr>
            <a:endParaRPr dirty="0"/>
          </a:p>
        </p:txBody>
      </p:sp>
      <p:sp>
        <p:nvSpPr>
          <p:cNvPr id="1061407742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1F1F1F"/>
                </a:solidFill>
              </a:rPr>
              <a:t>Цель и задачи работы</a:t>
            </a:r>
            <a:br>
              <a:rPr lang="ru-RU" dirty="0">
                <a:solidFill>
                  <a:srgbClr val="1F1F1F"/>
                </a:solidFill>
              </a:rPr>
            </a:br>
            <a:endParaRPr dirty="0"/>
          </a:p>
        </p:txBody>
      </p:sp>
      <p:sp>
        <p:nvSpPr>
          <p:cNvPr id="1970990418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 </a:t>
            </a:r>
          </a:p>
        </p:txBody>
      </p:sp>
      <p:sp>
        <p:nvSpPr>
          <p:cNvPr id="1970990419" name="TextBox 1970990418"/>
          <p:cNvSpPr txBox="1"/>
          <p:nvPr/>
        </p:nvSpPr>
        <p:spPr>
          <a:xfrm>
            <a:off x="713232" y="420624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sp>
        <p:nvSpPr>
          <p:cNvPr id="1970990420" name="TextBox 1970990419"/>
          <p:cNvSpPr txBox="1"/>
          <p:nvPr/>
        </p:nvSpPr>
        <p:spPr>
          <a:xfrm>
            <a:off x="758952" y="1078992"/>
            <a:ext cx="9601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400" b="0" dirty="0">
              <a:solidFill>
                <a:srgbClr val="5F5F5F"/>
              </a:solidFill>
            </a:endParaRPr>
          </a:p>
        </p:txBody>
      </p:sp>
      <p:sp>
        <p:nvSpPr>
          <p:cNvPr id="1970990421" name="TextBox 1970990420"/>
          <p:cNvSpPr txBox="1"/>
          <p:nvPr/>
        </p:nvSpPr>
        <p:spPr>
          <a:xfrm>
            <a:off x="868680" y="1691640"/>
            <a:ext cx="101498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84478"/>
                </a:solidFill>
              </a:rPr>
              <a:t>Цель: разработать и развернуть полнофункциональное Mini App приложение с frontend, backend, базой данных, объектным хранилищем и CI/CD.</a:t>
            </a:r>
          </a:p>
        </p:txBody>
      </p:sp>
      <p:sp>
        <p:nvSpPr>
          <p:cNvPr id="1970990422" name="TextBox 1970990421"/>
          <p:cNvSpPr txBox="1"/>
          <p:nvPr/>
        </p:nvSpPr>
        <p:spPr>
          <a:xfrm>
            <a:off x="960120" y="2606040"/>
            <a:ext cx="9875520" cy="2880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E2E2E"/>
                </a:solidFill>
              </a:defRPr>
            </a:pPr>
            <a:r>
              <a:t>Проверить запуск через Telegram WebApp initData</a:t>
            </a:r>
          </a:p>
          <a:p>
            <a:pPr>
              <a:spcAft>
                <a:spcPts val="500"/>
              </a:spcAft>
              <a:defRPr sz="1800">
                <a:solidFill>
                  <a:srgbClr val="2E2E2E"/>
                </a:solidFill>
              </a:defRPr>
            </a:pPr>
            <a:r>
              <a:t>Реализовать каталог, карточку товара, профиль и избранное</a:t>
            </a:r>
          </a:p>
          <a:p>
            <a:pPr>
              <a:spcAft>
                <a:spcPts val="500"/>
              </a:spcAft>
              <a:defRPr sz="1800">
                <a:solidFill>
                  <a:srgbClr val="2E2E2E"/>
                </a:solidFill>
              </a:defRPr>
            </a:pPr>
            <a:r>
              <a:t>Разделить роли пользователя, продавца и администратора</a:t>
            </a:r>
          </a:p>
          <a:p>
            <a:pPr>
              <a:spcAft>
                <a:spcPts val="500"/>
              </a:spcAft>
              <a:defRPr sz="1800">
                <a:solidFill>
                  <a:srgbClr val="2E2E2E"/>
                </a:solidFill>
              </a:defRPr>
            </a:pPr>
            <a:r>
              <a:t>Организовать хранение товаров в PostgreSQL и фото в MinIO</a:t>
            </a:r>
          </a:p>
          <a:p>
            <a:pPr>
              <a:spcAft>
                <a:spcPts val="500"/>
              </a:spcAft>
              <a:defRPr sz="1800">
                <a:solidFill>
                  <a:srgbClr val="2E2E2E"/>
                </a:solidFill>
              </a:defRPr>
            </a:pPr>
            <a:r>
              <a:t>Настроить Docker Compose, nginx и деплой через GitHub Actions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791380" name="Подзаголовок 22"/>
          <p:cNvSpPr>
            <a:spLocks noGrp="1"/>
          </p:cNvSpPr>
          <p:nvPr>
            <p:ph type="subTitle" idx="1"/>
          </p:nvPr>
        </p:nvSpPr>
        <p:spPr bwMode="auto">
          <a:xfrm>
            <a:off x="336000" y="908725"/>
            <a:ext cx="10130208" cy="4308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F5F5F"/>
                </a:solidFill>
              </a:rPr>
              <a:t>Почему Mini </a:t>
            </a:r>
            <a:r>
              <a:rPr lang="ru-RU" dirty="0" err="1">
                <a:solidFill>
                  <a:srgbClr val="5F5F5F"/>
                </a:solidFill>
              </a:rPr>
              <a:t>App</a:t>
            </a:r>
            <a:r>
              <a:rPr lang="ru-RU" dirty="0">
                <a:solidFill>
                  <a:srgbClr val="5F5F5F"/>
                </a:solidFill>
              </a:rPr>
              <a:t> удобен для небольшого </a:t>
            </a:r>
            <a:r>
              <a:rPr lang="ru-RU" dirty="0" err="1">
                <a:solidFill>
                  <a:srgbClr val="5F5F5F"/>
                </a:solidFill>
              </a:rPr>
              <a:t>marketplace</a:t>
            </a:r>
            <a:r>
              <a:rPr lang="ru-RU" dirty="0">
                <a:solidFill>
                  <a:srgbClr val="5F5F5F"/>
                </a:solidFill>
              </a:rPr>
              <a:t>-сценария</a:t>
            </a:r>
          </a:p>
          <a:p>
            <a:pPr>
              <a:defRPr/>
            </a:pPr>
            <a:endParaRPr dirty="0"/>
          </a:p>
        </p:txBody>
      </p:sp>
      <p:sp>
        <p:nvSpPr>
          <p:cNvPr id="906212014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1F1F1F"/>
                </a:solidFill>
              </a:rPr>
              <a:t>Актуальность и конкуренты</a:t>
            </a:r>
            <a:br>
              <a:rPr lang="ru-RU" dirty="0">
                <a:solidFill>
                  <a:srgbClr val="1F1F1F"/>
                </a:solidFill>
              </a:rPr>
            </a:br>
            <a:endParaRPr dirty="0"/>
          </a:p>
        </p:txBody>
      </p:sp>
      <p:sp>
        <p:nvSpPr>
          <p:cNvPr id="1924470106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 </a:t>
            </a:r>
          </a:p>
        </p:txBody>
      </p:sp>
      <p:sp>
        <p:nvSpPr>
          <p:cNvPr id="1924470107" name="TextBox 1924470106"/>
          <p:cNvSpPr txBox="1"/>
          <p:nvPr/>
        </p:nvSpPr>
        <p:spPr>
          <a:xfrm>
            <a:off x="713232" y="420624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sp>
        <p:nvSpPr>
          <p:cNvPr id="1924470108" name="TextBox 1924470107"/>
          <p:cNvSpPr txBox="1"/>
          <p:nvPr/>
        </p:nvSpPr>
        <p:spPr>
          <a:xfrm>
            <a:off x="758952" y="1078992"/>
            <a:ext cx="9601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400" b="0" dirty="0">
              <a:solidFill>
                <a:srgbClr val="5F5F5F"/>
              </a:solidFill>
            </a:endParaRPr>
          </a:p>
        </p:txBody>
      </p:sp>
      <p:sp>
        <p:nvSpPr>
          <p:cNvPr id="1924470109" name="TextBox 1924470108"/>
          <p:cNvSpPr txBox="1"/>
          <p:nvPr/>
        </p:nvSpPr>
        <p:spPr>
          <a:xfrm>
            <a:off x="868680" y="1600200"/>
            <a:ext cx="493776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 err="1"/>
              <a:t>Классические</a:t>
            </a:r>
            <a:r>
              <a:rPr dirty="0"/>
              <a:t> </a:t>
            </a:r>
            <a:r>
              <a:rPr dirty="0" err="1"/>
              <a:t>доски</a:t>
            </a:r>
            <a:r>
              <a:rPr dirty="0"/>
              <a:t> </a:t>
            </a:r>
            <a:r>
              <a:rPr dirty="0" err="1"/>
              <a:t>объявлений</a:t>
            </a:r>
            <a:r>
              <a:rPr dirty="0"/>
              <a:t>: </a:t>
            </a:r>
            <a:r>
              <a:rPr dirty="0" err="1"/>
              <a:t>сильный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лишний</a:t>
            </a:r>
            <a:r>
              <a:rPr dirty="0"/>
              <a:t> </a:t>
            </a:r>
            <a:r>
              <a:rPr dirty="0" err="1"/>
              <a:t>переход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Telegram</a:t>
            </a:r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 err="1"/>
              <a:t>Соцсети</a:t>
            </a:r>
            <a:r>
              <a:rPr dirty="0"/>
              <a:t>: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слабая</a:t>
            </a:r>
            <a:r>
              <a:rPr dirty="0"/>
              <a:t>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карточек</a:t>
            </a:r>
            <a:r>
              <a:rPr dirty="0"/>
              <a:t> и </a:t>
            </a:r>
            <a:r>
              <a:rPr dirty="0" err="1"/>
              <a:t>фильтров</a:t>
            </a: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/>
              <a:t>Telegram-</a:t>
            </a:r>
            <a:r>
              <a:rPr dirty="0" err="1"/>
              <a:t>чаты</a:t>
            </a:r>
            <a:r>
              <a:rPr dirty="0"/>
              <a:t>: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общаться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объявления</a:t>
            </a:r>
            <a:r>
              <a:rPr dirty="0"/>
              <a:t> </a:t>
            </a:r>
            <a:r>
              <a:rPr dirty="0" err="1"/>
              <a:t>теряются</a:t>
            </a:r>
            <a:r>
              <a:rPr dirty="0"/>
              <a:t> в </a:t>
            </a:r>
            <a:r>
              <a:rPr dirty="0" err="1"/>
              <a:t>ленте</a:t>
            </a: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/>
              <a:t>Mini App: </a:t>
            </a:r>
            <a:r>
              <a:rPr dirty="0" err="1"/>
              <a:t>каталог</a:t>
            </a:r>
            <a:r>
              <a:rPr dirty="0"/>
              <a:t> и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товарами</a:t>
            </a:r>
            <a:r>
              <a:rPr dirty="0"/>
              <a:t> </a:t>
            </a:r>
            <a:r>
              <a:rPr dirty="0" err="1"/>
              <a:t>остаются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привычного</a:t>
            </a:r>
            <a:r>
              <a:rPr dirty="0"/>
              <a:t> </a:t>
            </a:r>
            <a:r>
              <a:rPr dirty="0" err="1"/>
              <a:t>мессенджера</a:t>
            </a:r>
            <a:endParaRPr dirty="0"/>
          </a:p>
        </p:txBody>
      </p:sp>
      <p:sp>
        <p:nvSpPr>
          <p:cNvPr id="1924470110" name="TextBox 1924470109"/>
          <p:cNvSpPr txBox="1"/>
          <p:nvPr/>
        </p:nvSpPr>
        <p:spPr>
          <a:xfrm>
            <a:off x="6492240" y="1828800"/>
            <a:ext cx="1920240" cy="4114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sz="2200" b="1">
                <a:solidFill>
                  <a:srgbClr val="184478"/>
                </a:solidFill>
              </a:rPr>
              <a:t>1 клик</a:t>
            </a:r>
          </a:p>
        </p:txBody>
      </p:sp>
      <p:sp>
        <p:nvSpPr>
          <p:cNvPr id="1924470111" name="TextBox 1924470110"/>
          <p:cNvSpPr txBox="1"/>
          <p:nvPr/>
        </p:nvSpPr>
        <p:spPr>
          <a:xfrm>
            <a:off x="6492240" y="2212848"/>
            <a:ext cx="19202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464646"/>
                </a:solidFill>
              </a:rPr>
              <a:t>от бота до витрины</a:t>
            </a:r>
          </a:p>
        </p:txBody>
      </p:sp>
      <p:sp>
        <p:nvSpPr>
          <p:cNvPr id="1924470112" name="TextBox 1924470111"/>
          <p:cNvSpPr txBox="1"/>
          <p:nvPr/>
        </p:nvSpPr>
        <p:spPr>
          <a:xfrm>
            <a:off x="8595360" y="1828800"/>
            <a:ext cx="1920240" cy="4114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sz="2200" b="1">
                <a:solidFill>
                  <a:srgbClr val="184478"/>
                </a:solidFill>
              </a:rPr>
              <a:t>0 форм</a:t>
            </a:r>
          </a:p>
        </p:txBody>
      </p:sp>
      <p:sp>
        <p:nvSpPr>
          <p:cNvPr id="1924470113" name="TextBox 1924470112"/>
          <p:cNvSpPr txBox="1"/>
          <p:nvPr/>
        </p:nvSpPr>
        <p:spPr>
          <a:xfrm>
            <a:off x="8595360" y="2212848"/>
            <a:ext cx="19202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464646"/>
                </a:solidFill>
              </a:rPr>
              <a:t>отдельной регистрации</a:t>
            </a:r>
          </a:p>
        </p:txBody>
      </p:sp>
      <p:sp>
        <p:nvSpPr>
          <p:cNvPr id="1924470114" name="TextBox 1924470113"/>
          <p:cNvSpPr txBox="1"/>
          <p:nvPr/>
        </p:nvSpPr>
        <p:spPr>
          <a:xfrm>
            <a:off x="6492240" y="3246120"/>
            <a:ext cx="1920240" cy="4114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sz="2200" b="1">
                <a:solidFill>
                  <a:srgbClr val="184478"/>
                </a:solidFill>
              </a:rPr>
              <a:t>3 роли</a:t>
            </a:r>
          </a:p>
        </p:txBody>
      </p:sp>
      <p:sp>
        <p:nvSpPr>
          <p:cNvPr id="1924470115" name="TextBox 1924470114"/>
          <p:cNvSpPr txBox="1"/>
          <p:nvPr/>
        </p:nvSpPr>
        <p:spPr>
          <a:xfrm>
            <a:off x="6492240" y="3630168"/>
            <a:ext cx="19202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464646"/>
                </a:solidFill>
              </a:rPr>
              <a:t>user / seller / admin</a:t>
            </a:r>
          </a:p>
        </p:txBody>
      </p:sp>
      <p:sp>
        <p:nvSpPr>
          <p:cNvPr id="1924470116" name="TextBox 1924470115"/>
          <p:cNvSpPr txBox="1"/>
          <p:nvPr/>
        </p:nvSpPr>
        <p:spPr>
          <a:xfrm>
            <a:off x="8595360" y="3246120"/>
            <a:ext cx="1920240" cy="4114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sz="2200" b="1">
                <a:solidFill>
                  <a:srgbClr val="184478"/>
                </a:solidFill>
              </a:rPr>
              <a:t>4 фото</a:t>
            </a:r>
          </a:p>
        </p:txBody>
      </p:sp>
      <p:sp>
        <p:nvSpPr>
          <p:cNvPr id="1924470117" name="TextBox 1924470116"/>
          <p:cNvSpPr txBox="1"/>
          <p:nvPr/>
        </p:nvSpPr>
        <p:spPr>
          <a:xfrm>
            <a:off x="8595360" y="3630168"/>
            <a:ext cx="19202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464646"/>
                </a:solidFill>
              </a:rPr>
              <a:t>на карточку товара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79845" name="Подзаголовок 22"/>
          <p:cNvSpPr>
            <a:spLocks noGrp="1"/>
          </p:cNvSpPr>
          <p:nvPr>
            <p:ph type="subTitle" idx="1"/>
          </p:nvPr>
        </p:nvSpPr>
        <p:spPr bwMode="auto">
          <a:xfrm>
            <a:off x="336000" y="908725"/>
            <a:ext cx="10130208" cy="4308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F5F5F"/>
                </a:solidFill>
              </a:rPr>
              <a:t>Функциональные и нефункциональные требования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211905434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1F1F1F"/>
                </a:solidFill>
              </a:rPr>
              <a:t>Требования к приложению</a:t>
            </a:r>
            <a:br>
              <a:rPr lang="ru-RU" dirty="0">
                <a:solidFill>
                  <a:srgbClr val="1F1F1F"/>
                </a:solidFill>
              </a:rPr>
            </a:br>
            <a:endParaRPr dirty="0"/>
          </a:p>
        </p:txBody>
      </p:sp>
      <p:sp>
        <p:nvSpPr>
          <p:cNvPr id="1669878407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 </a:t>
            </a:r>
          </a:p>
        </p:txBody>
      </p:sp>
      <p:sp>
        <p:nvSpPr>
          <p:cNvPr id="1669878408" name="TextBox 1669878407"/>
          <p:cNvSpPr txBox="1"/>
          <p:nvPr/>
        </p:nvSpPr>
        <p:spPr>
          <a:xfrm>
            <a:off x="713232" y="420624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sp>
        <p:nvSpPr>
          <p:cNvPr id="1669878409" name="TextBox 1669878408"/>
          <p:cNvSpPr txBox="1"/>
          <p:nvPr/>
        </p:nvSpPr>
        <p:spPr>
          <a:xfrm>
            <a:off x="758952" y="1078992"/>
            <a:ext cx="9601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400" b="0" dirty="0">
              <a:solidFill>
                <a:srgbClr val="5F5F5F"/>
              </a:solidFill>
            </a:endParaRPr>
          </a:p>
        </p:txBody>
      </p:sp>
      <p:sp>
        <p:nvSpPr>
          <p:cNvPr id="1669878410" name="TextBox 1669878409"/>
          <p:cNvSpPr txBox="1"/>
          <p:nvPr/>
        </p:nvSpPr>
        <p:spPr>
          <a:xfrm>
            <a:off x="822960" y="1600200"/>
            <a:ext cx="512064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товаров</a:t>
            </a:r>
            <a:r>
              <a:rPr dirty="0"/>
              <a:t> с </a:t>
            </a:r>
            <a:r>
              <a:rPr dirty="0" err="1"/>
              <a:t>поиском</a:t>
            </a:r>
            <a:r>
              <a:rPr dirty="0"/>
              <a:t> и </a:t>
            </a:r>
            <a:r>
              <a:rPr dirty="0" err="1"/>
              <a:t>фильтром</a:t>
            </a:r>
            <a:r>
              <a:rPr dirty="0"/>
              <a:t> </a:t>
            </a:r>
            <a:r>
              <a:rPr dirty="0" err="1"/>
              <a:t>состояния</a:t>
            </a: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 err="1"/>
              <a:t>Карточка</a:t>
            </a:r>
            <a:r>
              <a:rPr dirty="0"/>
              <a:t> </a:t>
            </a:r>
            <a:r>
              <a:rPr dirty="0" err="1"/>
              <a:t>товара</a:t>
            </a:r>
            <a:r>
              <a:rPr dirty="0"/>
              <a:t>: </a:t>
            </a:r>
            <a:r>
              <a:rPr dirty="0" err="1"/>
              <a:t>цена</a:t>
            </a:r>
            <a:r>
              <a:rPr dirty="0"/>
              <a:t>, </a:t>
            </a:r>
            <a:r>
              <a:rPr dirty="0" err="1"/>
              <a:t>описание</a:t>
            </a:r>
            <a:r>
              <a:rPr dirty="0"/>
              <a:t>, </a:t>
            </a:r>
            <a:r>
              <a:rPr dirty="0" err="1"/>
              <a:t>фото</a:t>
            </a:r>
            <a:r>
              <a:rPr dirty="0"/>
              <a:t>, </a:t>
            </a:r>
            <a:r>
              <a:rPr dirty="0" err="1"/>
              <a:t>бренд</a:t>
            </a:r>
            <a:r>
              <a:rPr dirty="0"/>
              <a:t>, </a:t>
            </a:r>
            <a:r>
              <a:rPr dirty="0" err="1"/>
              <a:t>размер</a:t>
            </a:r>
            <a:r>
              <a:rPr dirty="0"/>
              <a:t>, </a:t>
            </a:r>
            <a:r>
              <a:rPr dirty="0" err="1"/>
              <a:t>продавец</a:t>
            </a: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 err="1"/>
              <a:t>Профиль</a:t>
            </a:r>
            <a:r>
              <a:rPr dirty="0"/>
              <a:t>: </a:t>
            </a:r>
            <a:r>
              <a:rPr dirty="0" err="1"/>
              <a:t>мои</a:t>
            </a:r>
            <a:r>
              <a:rPr dirty="0"/>
              <a:t> </a:t>
            </a:r>
            <a:r>
              <a:rPr dirty="0" err="1"/>
              <a:t>товары</a:t>
            </a:r>
            <a:r>
              <a:rPr dirty="0"/>
              <a:t>, </a:t>
            </a:r>
            <a:r>
              <a:rPr dirty="0" err="1"/>
              <a:t>избранное</a:t>
            </a:r>
            <a:r>
              <a:rPr dirty="0"/>
              <a:t>, </a:t>
            </a:r>
            <a:r>
              <a:rPr dirty="0" err="1"/>
              <a:t>создание</a:t>
            </a:r>
            <a:r>
              <a:rPr dirty="0"/>
              <a:t> и </a:t>
            </a:r>
            <a:r>
              <a:rPr dirty="0" err="1"/>
              <a:t>редактирование</a:t>
            </a: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 err="1"/>
              <a:t>Ограничение</a:t>
            </a:r>
            <a:r>
              <a:rPr dirty="0"/>
              <a:t> </a:t>
            </a:r>
            <a:r>
              <a:rPr dirty="0" err="1"/>
              <a:t>публикации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whitelist </a:t>
            </a:r>
            <a:r>
              <a:rPr dirty="0" err="1"/>
              <a:t>продавцов</a:t>
            </a:r>
            <a:endParaRPr dirty="0"/>
          </a:p>
        </p:txBody>
      </p:sp>
      <p:sp>
        <p:nvSpPr>
          <p:cNvPr id="1669878411" name="TextBox 1669878410"/>
          <p:cNvSpPr txBox="1"/>
          <p:nvPr/>
        </p:nvSpPr>
        <p:spPr>
          <a:xfrm>
            <a:off x="6309360" y="1600200"/>
            <a:ext cx="480060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t>Telegram initData проверяется на backend</a:t>
            </a:r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t>JWT хранится в HTTP-only cookie</a:t>
            </a:r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t>Секреты передаются только на сервере через env_file</a:t>
            </a:r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t>HTTPS, nginx reverse proxy и Docker volumes для данных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16903" name="Подзаголовок 22"/>
          <p:cNvSpPr>
            <a:spLocks noGrp="1"/>
          </p:cNvSpPr>
          <p:nvPr>
            <p:ph type="subTitle" idx="1"/>
          </p:nvPr>
        </p:nvSpPr>
        <p:spPr bwMode="auto">
          <a:xfrm>
            <a:off x="336000" y="908725"/>
            <a:ext cx="10130208" cy="4308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F5F5F"/>
                </a:solidFill>
              </a:rPr>
              <a:t>Выбор инструментов соответствует разделению </a:t>
            </a:r>
            <a:r>
              <a:rPr lang="ru-RU" dirty="0" err="1">
                <a:solidFill>
                  <a:srgbClr val="5F5F5F"/>
                </a:solidFill>
              </a:rPr>
              <a:t>frontend</a:t>
            </a:r>
            <a:r>
              <a:rPr lang="ru-RU" dirty="0">
                <a:solidFill>
                  <a:srgbClr val="5F5F5F"/>
                </a:solidFill>
              </a:rPr>
              <a:t>, </a:t>
            </a:r>
            <a:r>
              <a:rPr lang="ru-RU" dirty="0" err="1">
                <a:solidFill>
                  <a:srgbClr val="5F5F5F"/>
                </a:solidFill>
              </a:rPr>
              <a:t>backend</a:t>
            </a:r>
            <a:r>
              <a:rPr lang="ru-RU" dirty="0">
                <a:solidFill>
                  <a:srgbClr val="5F5F5F"/>
                </a:solidFill>
              </a:rPr>
              <a:t> и </a:t>
            </a:r>
            <a:r>
              <a:rPr lang="ru-RU" dirty="0" err="1">
                <a:solidFill>
                  <a:srgbClr val="5F5F5F"/>
                </a:solidFill>
              </a:rPr>
              <a:t>infrastructure</a:t>
            </a:r>
            <a:endParaRPr lang="ru-RU" dirty="0">
              <a:solidFill>
                <a:srgbClr val="5F5F5F"/>
              </a:solidFill>
            </a:endParaRPr>
          </a:p>
          <a:p>
            <a:pPr>
              <a:defRPr/>
            </a:pPr>
            <a:endParaRPr dirty="0"/>
          </a:p>
        </p:txBody>
      </p:sp>
      <p:sp>
        <p:nvSpPr>
          <p:cNvPr id="813370003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1F1F1F"/>
                </a:solidFill>
              </a:rPr>
              <a:t>Технологический стек</a:t>
            </a:r>
            <a:br>
              <a:rPr lang="ru-RU" dirty="0">
                <a:solidFill>
                  <a:srgbClr val="1F1F1F"/>
                </a:solidFill>
              </a:rPr>
            </a:br>
            <a:endParaRPr dirty="0"/>
          </a:p>
        </p:txBody>
      </p:sp>
      <p:sp>
        <p:nvSpPr>
          <p:cNvPr id="1328163733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 </a:t>
            </a:r>
          </a:p>
        </p:txBody>
      </p:sp>
      <p:sp>
        <p:nvSpPr>
          <p:cNvPr id="1328163734" name="TextBox 1328163733"/>
          <p:cNvSpPr txBox="1"/>
          <p:nvPr/>
        </p:nvSpPr>
        <p:spPr>
          <a:xfrm>
            <a:off x="713232" y="420624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sp>
        <p:nvSpPr>
          <p:cNvPr id="1328163735" name="TextBox 1328163734"/>
          <p:cNvSpPr txBox="1"/>
          <p:nvPr/>
        </p:nvSpPr>
        <p:spPr>
          <a:xfrm>
            <a:off x="758952" y="1078992"/>
            <a:ext cx="9601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400" b="0" dirty="0">
              <a:solidFill>
                <a:srgbClr val="5F5F5F"/>
              </a:solidFill>
            </a:endParaRPr>
          </a:p>
        </p:txBody>
      </p:sp>
      <p:sp>
        <p:nvSpPr>
          <p:cNvPr id="1328163736" name="Rectangle 1328163735"/>
          <p:cNvSpPr/>
          <p:nvPr/>
        </p:nvSpPr>
        <p:spPr>
          <a:xfrm>
            <a:off x="822960" y="1600200"/>
            <a:ext cx="4709160" cy="1060704"/>
          </a:xfrm>
          <a:prstGeom prst="rect">
            <a:avLst/>
          </a:prstGeom>
          <a:solidFill>
            <a:srgbClr val="EBF1FA"/>
          </a:solidFill>
          <a:ln>
            <a:solidFill>
              <a:srgbClr val="5F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Frontend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React 19, TypeScript, Vite, Tailwind CSS, React Router, Axios</a:t>
            </a:r>
          </a:p>
        </p:txBody>
      </p:sp>
      <p:sp>
        <p:nvSpPr>
          <p:cNvPr id="1328163737" name="Rectangle 1328163736"/>
          <p:cNvSpPr/>
          <p:nvPr/>
        </p:nvSpPr>
        <p:spPr>
          <a:xfrm>
            <a:off x="6309360" y="1600200"/>
            <a:ext cx="4709160" cy="1060704"/>
          </a:xfrm>
          <a:prstGeom prst="rect">
            <a:avLst/>
          </a:prstGeom>
          <a:solidFill>
            <a:srgbClr val="EBF1FA"/>
          </a:solidFill>
          <a:ln>
            <a:solidFill>
              <a:srgbClr val="5F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Backend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FastAPI, Pydantic, SQLAlchemy Async, Alembic, python-jose</a:t>
            </a:r>
          </a:p>
        </p:txBody>
      </p:sp>
      <p:sp>
        <p:nvSpPr>
          <p:cNvPr id="1328163738" name="Rectangle 1328163737"/>
          <p:cNvSpPr/>
          <p:nvPr/>
        </p:nvSpPr>
        <p:spPr>
          <a:xfrm>
            <a:off x="822960" y="3200400"/>
            <a:ext cx="4709160" cy="1060704"/>
          </a:xfrm>
          <a:prstGeom prst="rect">
            <a:avLst/>
          </a:prstGeom>
          <a:solidFill>
            <a:srgbClr val="EBF1FA"/>
          </a:solidFill>
          <a:ln>
            <a:solidFill>
              <a:srgbClr val="5F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Data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PostgreSQL 18, MinIO, Docker volumes</a:t>
            </a:r>
          </a:p>
        </p:txBody>
      </p:sp>
      <p:sp>
        <p:nvSpPr>
          <p:cNvPr id="1328163739" name="Rectangle 1328163738"/>
          <p:cNvSpPr/>
          <p:nvPr/>
        </p:nvSpPr>
        <p:spPr>
          <a:xfrm>
            <a:off x="6309360" y="3200400"/>
            <a:ext cx="4709160" cy="1060704"/>
          </a:xfrm>
          <a:prstGeom prst="rect">
            <a:avLst/>
          </a:prstGeom>
          <a:solidFill>
            <a:srgbClr val="EBF1FA"/>
          </a:solidFill>
          <a:ln>
            <a:solidFill>
              <a:srgbClr val="5F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Deploy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Docker Compose, nginx, TLS, GitHub Actions, SSH на VPS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579575" name="Подзаголовок 22"/>
          <p:cNvSpPr>
            <a:spLocks noGrp="1"/>
          </p:cNvSpPr>
          <p:nvPr>
            <p:ph type="subTitle" idx="1"/>
          </p:nvPr>
        </p:nvSpPr>
        <p:spPr bwMode="auto">
          <a:xfrm>
            <a:off x="336000" y="908725"/>
            <a:ext cx="10130208" cy="4308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F5F5F"/>
                </a:solidFill>
              </a:rPr>
              <a:t>Готовое решение открывается через </a:t>
            </a:r>
            <a:r>
              <a:rPr lang="ru-RU" dirty="0" err="1">
                <a:solidFill>
                  <a:srgbClr val="5F5F5F"/>
                </a:solidFill>
              </a:rPr>
              <a:t>Telegram</a:t>
            </a:r>
            <a:r>
              <a:rPr lang="ru-RU" dirty="0">
                <a:solidFill>
                  <a:srgbClr val="5F5F5F"/>
                </a:solidFill>
              </a:rPr>
              <a:t>-бота @shopshop11bot</a:t>
            </a:r>
          </a:p>
          <a:p>
            <a:pPr>
              <a:defRPr/>
            </a:pPr>
            <a:endParaRPr dirty="0"/>
          </a:p>
        </p:txBody>
      </p:sp>
      <p:sp>
        <p:nvSpPr>
          <p:cNvPr id="2047250096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1F1F1F"/>
                </a:solidFill>
              </a:rPr>
              <a:t>Результаты разработки</a:t>
            </a:r>
            <a:br>
              <a:rPr lang="ru-RU" dirty="0">
                <a:solidFill>
                  <a:srgbClr val="1F1F1F"/>
                </a:solidFill>
              </a:rPr>
            </a:br>
            <a:endParaRPr dirty="0"/>
          </a:p>
        </p:txBody>
      </p:sp>
      <p:sp>
        <p:nvSpPr>
          <p:cNvPr id="200993098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 </a:t>
            </a:r>
          </a:p>
        </p:txBody>
      </p:sp>
      <p:sp>
        <p:nvSpPr>
          <p:cNvPr id="2047250097" name="TextBox 2047250096"/>
          <p:cNvSpPr txBox="1"/>
          <p:nvPr/>
        </p:nvSpPr>
        <p:spPr>
          <a:xfrm>
            <a:off x="713232" y="420624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sp>
        <p:nvSpPr>
          <p:cNvPr id="2047250098" name="TextBox 2047250097"/>
          <p:cNvSpPr txBox="1"/>
          <p:nvPr/>
        </p:nvSpPr>
        <p:spPr>
          <a:xfrm>
            <a:off x="758952" y="1078992"/>
            <a:ext cx="9601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400" b="0" dirty="0">
              <a:solidFill>
                <a:srgbClr val="5F5F5F"/>
              </a:solidFill>
            </a:endParaRPr>
          </a:p>
        </p:txBody>
      </p:sp>
      <p:sp>
        <p:nvSpPr>
          <p:cNvPr id="2047250099" name="TextBox 2047250098"/>
          <p:cNvSpPr txBox="1"/>
          <p:nvPr/>
        </p:nvSpPr>
        <p:spPr>
          <a:xfrm>
            <a:off x="822960" y="1600200"/>
            <a:ext cx="56235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t>Рабочий SPA-интерфейс Mini App с адаптацией под тему Telegram</a:t>
            </a:r>
          </a:p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t>API для товаров, избранного, каталога, продавцов и пользователей</a:t>
            </a:r>
          </a:p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t>Загрузка фотографий с проверкой типа и размера</a:t>
            </a:r>
          </a:p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t>Модерация статуса товара администратором</a:t>
            </a:r>
          </a:p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t>CI/CD: push в main автоматически обновляет сервер</a:t>
            </a:r>
          </a:p>
        </p:txBody>
      </p:sp>
      <p:sp>
        <p:nvSpPr>
          <p:cNvPr id="2047250100" name="Rectangle 2047250099"/>
          <p:cNvSpPr/>
          <p:nvPr/>
        </p:nvSpPr>
        <p:spPr>
          <a:xfrm>
            <a:off x="6903720" y="2011680"/>
            <a:ext cx="3566160" cy="960120"/>
          </a:xfrm>
          <a:prstGeom prst="rect">
            <a:avLst/>
          </a:prstGeom>
          <a:solidFill>
            <a:srgbClr val="F2F8F5"/>
          </a:solidFill>
          <a:ln>
            <a:solidFill>
              <a:srgbClr val="48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Точка входа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@shopshop11bot</a:t>
            </a:r>
          </a:p>
        </p:txBody>
      </p:sp>
      <p:sp>
        <p:nvSpPr>
          <p:cNvPr id="2047250101" name="Rectangle 2047250100"/>
          <p:cNvSpPr/>
          <p:nvPr/>
        </p:nvSpPr>
        <p:spPr>
          <a:xfrm>
            <a:off x="6903720" y="3337560"/>
            <a:ext cx="3566160" cy="960120"/>
          </a:xfrm>
          <a:prstGeom prst="rect">
            <a:avLst/>
          </a:prstGeom>
          <a:solidFill>
            <a:srgbClr val="F8F5EE"/>
          </a:solidFill>
          <a:ln>
            <a:solidFill>
              <a:srgbClr val="AF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Сборка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npm ci -&gt; npm run build -&gt; docker compose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757756" name="Подзаголовок 52"/>
          <p:cNvSpPr>
            <a:spLocks noGrp="1"/>
          </p:cNvSpPr>
          <p:nvPr>
            <p:ph type="subTitle" idx="1"/>
          </p:nvPr>
        </p:nvSpPr>
        <p:spPr bwMode="auto">
          <a:xfrm>
            <a:off x="347661" y="908725"/>
            <a:ext cx="10398685" cy="4308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F5F5F"/>
                </a:solidFill>
              </a:rPr>
              <a:t>Связь </a:t>
            </a:r>
            <a:r>
              <a:rPr lang="en-US" dirty="0">
                <a:solidFill>
                  <a:srgbClr val="5F5F5F"/>
                </a:solidFill>
              </a:rPr>
              <a:t>Telegram, frontend, backend </a:t>
            </a:r>
            <a:r>
              <a:rPr lang="ru-RU" dirty="0">
                <a:solidFill>
                  <a:srgbClr val="5F5F5F"/>
                </a:solidFill>
              </a:rPr>
              <a:t>и инфраструктуры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1220727833" name="Заголовок 51"/>
          <p:cNvSpPr>
            <a:spLocks noGrp="1"/>
          </p:cNvSpPr>
          <p:nvPr>
            <p:ph type="title"/>
          </p:nvPr>
        </p:nvSpPr>
        <p:spPr bwMode="auto">
          <a:xfrm>
            <a:off x="347661" y="57633"/>
            <a:ext cx="10398685" cy="73866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1F1F1F"/>
                </a:solidFill>
              </a:rPr>
              <a:t>Архитектура решения</a:t>
            </a:r>
            <a:br>
              <a:rPr lang="ru-RU" dirty="0">
                <a:solidFill>
                  <a:srgbClr val="1F1F1F"/>
                </a:solidFill>
              </a:rPr>
            </a:br>
            <a:endParaRPr lang="ru-RU" dirty="0"/>
          </a:p>
        </p:txBody>
      </p:sp>
      <p:sp>
        <p:nvSpPr>
          <p:cNvPr id="451565822" name="Текст 5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 </a:t>
            </a:r>
          </a:p>
        </p:txBody>
      </p:sp>
      <p:sp>
        <p:nvSpPr>
          <p:cNvPr id="724873473" name="Текст 55"/>
          <p:cNvSpPr>
            <a:spLocks noGrp="1"/>
          </p:cNvSpPr>
          <p:nvPr>
            <p:ph type="body" sz="quarter" idx="19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  </a:t>
            </a:r>
          </a:p>
        </p:txBody>
      </p:sp>
      <p:sp>
        <p:nvSpPr>
          <p:cNvPr id="1460757757" name="TextBox 1460757756"/>
          <p:cNvSpPr txBox="1"/>
          <p:nvPr/>
        </p:nvSpPr>
        <p:spPr>
          <a:xfrm>
            <a:off x="713232" y="420624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sp>
        <p:nvSpPr>
          <p:cNvPr id="1460757758" name="TextBox 1460757757"/>
          <p:cNvSpPr txBox="1"/>
          <p:nvPr/>
        </p:nvSpPr>
        <p:spPr>
          <a:xfrm>
            <a:off x="758952" y="1078992"/>
            <a:ext cx="9601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400" b="0" dirty="0">
              <a:solidFill>
                <a:srgbClr val="5F5F5F"/>
              </a:solidFill>
            </a:endParaRPr>
          </a:p>
        </p:txBody>
      </p:sp>
      <p:sp>
        <p:nvSpPr>
          <p:cNvPr id="1460757759" name="Rectangle 1460757758"/>
          <p:cNvSpPr/>
          <p:nvPr/>
        </p:nvSpPr>
        <p:spPr>
          <a:xfrm>
            <a:off x="731520" y="1874519"/>
            <a:ext cx="2057400" cy="914400"/>
          </a:xfrm>
          <a:prstGeom prst="rect">
            <a:avLst/>
          </a:prstGeom>
          <a:solidFill>
            <a:srgbClr val="EBF1FA"/>
          </a:solidFill>
          <a:ln>
            <a:solidFill>
              <a:srgbClr val="5F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Telegram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Mini App</a:t>
            </a:r>
            <a:br/>
            <a:r>
              <a:t>@shopshop11bot</a:t>
            </a:r>
          </a:p>
        </p:txBody>
      </p:sp>
      <p:sp>
        <p:nvSpPr>
          <p:cNvPr id="1460757760" name="Rectangle 1460757759"/>
          <p:cNvSpPr/>
          <p:nvPr/>
        </p:nvSpPr>
        <p:spPr>
          <a:xfrm>
            <a:off x="3337560" y="1874519"/>
            <a:ext cx="2057400" cy="914400"/>
          </a:xfrm>
          <a:prstGeom prst="rect">
            <a:avLst/>
          </a:prstGeom>
          <a:solidFill>
            <a:srgbClr val="EBF1FA"/>
          </a:solidFill>
          <a:ln>
            <a:solidFill>
              <a:srgbClr val="5F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Frontend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React/Vite</a:t>
            </a:r>
            <a:br/>
            <a:r>
              <a:t>static build</a:t>
            </a:r>
          </a:p>
        </p:txBody>
      </p:sp>
      <p:sp>
        <p:nvSpPr>
          <p:cNvPr id="1460757761" name="Rectangle 1460757760"/>
          <p:cNvSpPr/>
          <p:nvPr/>
        </p:nvSpPr>
        <p:spPr>
          <a:xfrm>
            <a:off x="5943600" y="1874519"/>
            <a:ext cx="2057400" cy="914400"/>
          </a:xfrm>
          <a:prstGeom prst="rect">
            <a:avLst/>
          </a:prstGeom>
          <a:solidFill>
            <a:srgbClr val="EBF1FA"/>
          </a:solidFill>
          <a:ln>
            <a:solidFill>
              <a:srgbClr val="5F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Backend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FastAPI</a:t>
            </a:r>
            <a:br/>
            <a:r>
              <a:t>JWT + roles</a:t>
            </a:r>
          </a:p>
        </p:txBody>
      </p:sp>
      <p:sp>
        <p:nvSpPr>
          <p:cNvPr id="1460757762" name="Rectangle 1460757761"/>
          <p:cNvSpPr/>
          <p:nvPr/>
        </p:nvSpPr>
        <p:spPr>
          <a:xfrm>
            <a:off x="8549640" y="1325880"/>
            <a:ext cx="2148840" cy="914400"/>
          </a:xfrm>
          <a:prstGeom prst="rect">
            <a:avLst/>
          </a:prstGeom>
          <a:solidFill>
            <a:srgbClr val="EBF1FA"/>
          </a:solidFill>
          <a:ln>
            <a:solidFill>
              <a:srgbClr val="5F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PostgreSQL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users, products,</a:t>
            </a:r>
            <a:br/>
            <a:r>
              <a:t>favorites, sellers</a:t>
            </a:r>
          </a:p>
        </p:txBody>
      </p:sp>
      <p:sp>
        <p:nvSpPr>
          <p:cNvPr id="1460757763" name="Rectangle 1460757762"/>
          <p:cNvSpPr/>
          <p:nvPr/>
        </p:nvSpPr>
        <p:spPr>
          <a:xfrm>
            <a:off x="8549640" y="2697480"/>
            <a:ext cx="2148840" cy="914400"/>
          </a:xfrm>
          <a:prstGeom prst="rect">
            <a:avLst/>
          </a:prstGeom>
          <a:solidFill>
            <a:srgbClr val="EBF1FA"/>
          </a:solidFill>
          <a:ln>
            <a:solidFill>
              <a:srgbClr val="5F7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MinIO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product photos</a:t>
            </a:r>
            <a:br/>
            <a:r>
              <a:t>/storage/</a:t>
            </a:r>
          </a:p>
        </p:txBody>
      </p:sp>
      <p:sp>
        <p:nvSpPr>
          <p:cNvPr id="1460757764" name="Rectangle 1460757763"/>
          <p:cNvSpPr/>
          <p:nvPr/>
        </p:nvSpPr>
        <p:spPr>
          <a:xfrm>
            <a:off x="3337560" y="3886200"/>
            <a:ext cx="4663440" cy="868680"/>
          </a:xfrm>
          <a:prstGeom prst="rect">
            <a:avLst/>
          </a:prstGeom>
          <a:solidFill>
            <a:srgbClr val="F6F6F6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>
                <a:solidFill>
                  <a:srgbClr val="16325C"/>
                </a:solidFill>
              </a:defRPr>
            </a:pPr>
            <a:r>
              <a:t>nginx + Docker Compose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HTTPS, /api proxy, /storage proxy, containers on VPS</a:t>
            </a:r>
          </a:p>
        </p:txBody>
      </p:sp>
      <p:sp>
        <p:nvSpPr>
          <p:cNvPr id="1460757765" name="TextBox 1460757764"/>
          <p:cNvSpPr txBox="1"/>
          <p:nvPr/>
        </p:nvSpPr>
        <p:spPr>
          <a:xfrm>
            <a:off x="868680" y="5193792"/>
            <a:ext cx="96926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E2E2E"/>
                </a:solidFill>
              </a:defRPr>
            </a:pPr>
            <a:r>
              <a:t>GitHub Actions: SSH на VPS -&gt; pull main -&gt; build frontend -&gt; migrations -&gt; compose up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130367" name="Подзаголовок 22"/>
          <p:cNvSpPr>
            <a:spLocks noGrp="1"/>
          </p:cNvSpPr>
          <p:nvPr>
            <p:ph type="subTitle" idx="1"/>
          </p:nvPr>
        </p:nvSpPr>
        <p:spPr bwMode="auto">
          <a:xfrm>
            <a:off x="347661" y="908725"/>
            <a:ext cx="10398685" cy="4308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F5F5F"/>
                </a:solidFill>
              </a:rPr>
              <a:t>Серверная логика закрывает бизнес-операции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1916921140" name="Заголовок 21"/>
          <p:cNvSpPr>
            <a:spLocks noGrp="1"/>
          </p:cNvSpPr>
          <p:nvPr>
            <p:ph type="title"/>
          </p:nvPr>
        </p:nvSpPr>
        <p:spPr bwMode="auto">
          <a:xfrm>
            <a:off x="347661" y="57633"/>
            <a:ext cx="10398685" cy="738664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1F1F1F"/>
                </a:solidFill>
              </a:rPr>
              <a:t>Backend </a:t>
            </a:r>
            <a:r>
              <a:rPr lang="ru-RU" dirty="0">
                <a:solidFill>
                  <a:srgbClr val="1F1F1F"/>
                </a:solidFill>
              </a:rPr>
              <a:t>и безопасность</a:t>
            </a:r>
            <a:br>
              <a:rPr lang="ru-RU" dirty="0">
                <a:solidFill>
                  <a:srgbClr val="1F1F1F"/>
                </a:solidFill>
              </a:rPr>
            </a:br>
            <a:endParaRPr lang="ru-RU" dirty="0"/>
          </a:p>
        </p:txBody>
      </p:sp>
      <p:sp>
        <p:nvSpPr>
          <p:cNvPr id="1916921141" name="TextBox 1916921140"/>
          <p:cNvSpPr txBox="1"/>
          <p:nvPr/>
        </p:nvSpPr>
        <p:spPr>
          <a:xfrm>
            <a:off x="713232" y="420624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sp>
        <p:nvSpPr>
          <p:cNvPr id="1916921143" name="TextBox 1916921142"/>
          <p:cNvSpPr txBox="1"/>
          <p:nvPr/>
        </p:nvSpPr>
        <p:spPr>
          <a:xfrm>
            <a:off x="868680" y="1600200"/>
            <a:ext cx="5074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 err="1"/>
              <a:t>AuthMiddleware</a:t>
            </a:r>
            <a:r>
              <a:rPr dirty="0"/>
              <a:t>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непубличные</a:t>
            </a:r>
            <a:r>
              <a:rPr dirty="0"/>
              <a:t> </a:t>
            </a:r>
            <a:r>
              <a:rPr dirty="0" err="1"/>
              <a:t>маршруты</a:t>
            </a: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/>
              <a:t>Telegram </a:t>
            </a:r>
            <a:r>
              <a:rPr dirty="0" err="1"/>
              <a:t>initData</a:t>
            </a:r>
            <a:r>
              <a:rPr dirty="0"/>
              <a:t> </a:t>
            </a:r>
            <a:r>
              <a:rPr dirty="0" err="1"/>
              <a:t>проверяется</a:t>
            </a:r>
            <a:r>
              <a:rPr dirty="0"/>
              <a:t> HMAC-</a:t>
            </a:r>
            <a:r>
              <a:rPr dirty="0" err="1"/>
              <a:t>подписью</a:t>
            </a:r>
            <a:r>
              <a:rPr dirty="0"/>
              <a:t> и </a:t>
            </a:r>
            <a:r>
              <a:rPr dirty="0" err="1"/>
              <a:t>временем</a:t>
            </a:r>
            <a:r>
              <a:rPr dirty="0"/>
              <a:t> </a:t>
            </a:r>
            <a:r>
              <a:rPr dirty="0" err="1"/>
              <a:t>auth_date</a:t>
            </a: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/>
              <a:t>Unit of Work </a:t>
            </a:r>
            <a:r>
              <a:rPr dirty="0" err="1"/>
              <a:t>централизует</a:t>
            </a:r>
            <a:r>
              <a:rPr dirty="0"/>
              <a:t> commit/rollback </a:t>
            </a:r>
            <a:r>
              <a:rPr dirty="0" err="1"/>
              <a:t>транзакций</a:t>
            </a: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rPr dirty="0" err="1"/>
              <a:t>Фотографии</a:t>
            </a:r>
            <a:r>
              <a:rPr dirty="0"/>
              <a:t> </a:t>
            </a:r>
            <a:r>
              <a:rPr dirty="0" err="1"/>
              <a:t>проходят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 MIME, </a:t>
            </a:r>
            <a:r>
              <a:rPr dirty="0" err="1"/>
              <a:t>сигнатуры</a:t>
            </a:r>
            <a:r>
              <a:rPr dirty="0"/>
              <a:t> и </a:t>
            </a:r>
            <a:r>
              <a:rPr dirty="0" err="1"/>
              <a:t>размера</a:t>
            </a:r>
            <a:endParaRPr dirty="0"/>
          </a:p>
        </p:txBody>
      </p:sp>
      <p:sp>
        <p:nvSpPr>
          <p:cNvPr id="1916921144" name="TextBox 1916921143"/>
          <p:cNvSpPr txBox="1"/>
          <p:nvPr/>
        </p:nvSpPr>
        <p:spPr>
          <a:xfrm>
            <a:off x="6217920" y="1600200"/>
            <a:ext cx="466344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t>users: Telegram-пользователи</a:t>
            </a:r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t>sellers: whitelist продавцов</a:t>
            </a:r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t>products: товары, статус, цена, атрибуты</a:t>
            </a:r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t>favorites: избранное</a:t>
            </a:r>
          </a:p>
          <a:p>
            <a:pPr>
              <a:spcAft>
                <a:spcPts val="500"/>
              </a:spcAft>
              <a:defRPr sz="1600">
                <a:solidFill>
                  <a:srgbClr val="2E2E2E"/>
                </a:solidFill>
              </a:defRPr>
            </a:pPr>
            <a:r>
              <a:t>brands / categories / sizes: справочники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162142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347661" y="908725"/>
            <a:ext cx="10398685" cy="4308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F5F5F"/>
                </a:solidFill>
              </a:rPr>
              <a:t>Пользовательский путь внутри Mini </a:t>
            </a:r>
            <a:r>
              <a:rPr lang="ru-RU" dirty="0" err="1">
                <a:solidFill>
                  <a:srgbClr val="5F5F5F"/>
                </a:solidFill>
              </a:rPr>
              <a:t>App</a:t>
            </a:r>
            <a:endParaRPr lang="ru-RU" dirty="0">
              <a:solidFill>
                <a:srgbClr val="5F5F5F"/>
              </a:solidFill>
            </a:endParaRPr>
          </a:p>
          <a:p>
            <a:pPr>
              <a:defRPr/>
            </a:pPr>
            <a:endParaRPr lang="ru-RU" dirty="0"/>
          </a:p>
        </p:txBody>
      </p:sp>
      <p:sp>
        <p:nvSpPr>
          <p:cNvPr id="1108031598" name="Заголовок 1"/>
          <p:cNvSpPr>
            <a:spLocks noGrp="1"/>
          </p:cNvSpPr>
          <p:nvPr>
            <p:ph type="title"/>
          </p:nvPr>
        </p:nvSpPr>
        <p:spPr bwMode="auto">
          <a:xfrm>
            <a:off x="347661" y="57633"/>
            <a:ext cx="10398685" cy="738664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1F1F1F"/>
                </a:solidFill>
              </a:rPr>
              <a:t>Frontend-</a:t>
            </a:r>
            <a:r>
              <a:rPr lang="ru-RU" dirty="0">
                <a:solidFill>
                  <a:srgbClr val="1F1F1F"/>
                </a:solidFill>
              </a:rPr>
              <a:t>сценарии</a:t>
            </a:r>
            <a:br>
              <a:rPr lang="ru-RU" dirty="0">
                <a:solidFill>
                  <a:srgbClr val="1F1F1F"/>
                </a:solidFill>
              </a:rPr>
            </a:br>
            <a:endParaRPr lang="ru-RU" dirty="0"/>
          </a:p>
        </p:txBody>
      </p:sp>
      <p:sp>
        <p:nvSpPr>
          <p:cNvPr id="29437101" name="Текст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 </a:t>
            </a:r>
          </a:p>
        </p:txBody>
      </p:sp>
      <p:sp>
        <p:nvSpPr>
          <p:cNvPr id="1038568419" name="Текст 5"/>
          <p:cNvSpPr>
            <a:spLocks noGrp="1"/>
          </p:cNvSpPr>
          <p:nvPr>
            <p:ph type="body" sz="quarter" idx="19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 </a:t>
            </a:r>
          </a:p>
        </p:txBody>
      </p:sp>
      <p:sp>
        <p:nvSpPr>
          <p:cNvPr id="2053955290" name="TextBox 15"/>
          <p:cNvSpPr txBox="1"/>
          <p:nvPr/>
        </p:nvSpPr>
        <p:spPr bwMode="auto">
          <a:xfrm>
            <a:off x="2643764" y="1813403"/>
            <a:ext cx="19573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2053955291" name="TextBox 2053955290"/>
          <p:cNvSpPr txBox="1"/>
          <p:nvPr/>
        </p:nvSpPr>
        <p:spPr>
          <a:xfrm>
            <a:off x="713232" y="420624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sp>
        <p:nvSpPr>
          <p:cNvPr id="2053955292" name="TextBox 2053955291"/>
          <p:cNvSpPr txBox="1"/>
          <p:nvPr/>
        </p:nvSpPr>
        <p:spPr>
          <a:xfrm>
            <a:off x="758952" y="1078992"/>
            <a:ext cx="9601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400" b="0" dirty="0">
              <a:solidFill>
                <a:srgbClr val="5F5F5F"/>
              </a:solidFill>
            </a:endParaRPr>
          </a:p>
        </p:txBody>
      </p:sp>
      <p:sp>
        <p:nvSpPr>
          <p:cNvPr id="2053955293" name="TextBox 2053955292"/>
          <p:cNvSpPr txBox="1"/>
          <p:nvPr/>
        </p:nvSpPr>
        <p:spPr>
          <a:xfrm>
            <a:off x="914400" y="1691640"/>
            <a:ext cx="9875520" cy="17738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E2E2E"/>
                </a:solidFill>
              </a:defRPr>
            </a:pPr>
            <a:r>
              <a:t>Открытие: Telegram WebApp -&gt; initData -&gt; backend auth -&gt; текущий пользователь</a:t>
            </a:r>
          </a:p>
          <a:p>
            <a:pPr>
              <a:spcAft>
                <a:spcPts val="500"/>
              </a:spcAft>
              <a:defRPr sz="1800">
                <a:solidFill>
                  <a:srgbClr val="2E2E2E"/>
                </a:solidFill>
              </a:defRPr>
            </a:pPr>
            <a:r>
              <a:t>Витрина: поиск, фильтр состояния, карточки товаров и избранное</a:t>
            </a:r>
          </a:p>
          <a:p>
            <a:pPr>
              <a:spcAft>
                <a:spcPts val="500"/>
              </a:spcAft>
              <a:defRPr sz="1800">
                <a:solidFill>
                  <a:srgbClr val="2E2E2E"/>
                </a:solidFill>
              </a:defRPr>
            </a:pPr>
            <a:r>
              <a:t>Товар: галерея, свойства, цена, описание, продавец, переход в Telegram-чат</a:t>
            </a:r>
          </a:p>
          <a:p>
            <a:pPr>
              <a:spcAft>
                <a:spcPts val="500"/>
              </a:spcAft>
              <a:defRPr sz="1800">
                <a:solidFill>
                  <a:srgbClr val="2E2E2E"/>
                </a:solidFill>
              </a:defRPr>
            </a:pPr>
            <a:r>
              <a:t>Профиль: собственные объявления, избранные товары, создание объявления</a:t>
            </a:r>
          </a:p>
          <a:p>
            <a:pPr>
              <a:spcAft>
                <a:spcPts val="500"/>
              </a:spcAft>
              <a:defRPr sz="1800">
                <a:solidFill>
                  <a:srgbClr val="2E2E2E"/>
                </a:solidFill>
              </a:defRPr>
            </a:pPr>
            <a:r>
              <a:t>Продавец: загрузка до 4 фото, редактирование и скрытие товара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819923" name="Подзаголовок 22"/>
          <p:cNvSpPr>
            <a:spLocks noGrp="1"/>
          </p:cNvSpPr>
          <p:nvPr>
            <p:ph type="subTitle" idx="1"/>
          </p:nvPr>
        </p:nvSpPr>
        <p:spPr bwMode="auto">
          <a:xfrm>
            <a:off x="3935413" y="1052969"/>
            <a:ext cx="10130208" cy="4308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5F5F5F"/>
                </a:solidFill>
              </a:rPr>
              <a:t>Проверены критичные участки авторизации и прав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300294221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>
                <a:solidFill>
                  <a:srgbClr val="1F1F1F"/>
                </a:solidFill>
              </a:rPr>
              <a:t>Тестирование</a:t>
            </a:r>
            <a:br>
              <a:rPr lang="ru-RU" dirty="0">
                <a:solidFill>
                  <a:srgbClr val="1F1F1F"/>
                </a:solidFill>
              </a:rPr>
            </a:br>
            <a:endParaRPr lang="ru-RU" dirty="0"/>
          </a:p>
        </p:txBody>
      </p:sp>
      <p:sp>
        <p:nvSpPr>
          <p:cNvPr id="861036581" name="TextBox 3"/>
          <p:cNvSpPr txBox="1"/>
          <p:nvPr/>
        </p:nvSpPr>
        <p:spPr bwMode="auto">
          <a:xfrm>
            <a:off x="334963" y="1973938"/>
            <a:ext cx="2781863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endParaRPr/>
          </a:p>
        </p:txBody>
      </p:sp>
      <p:sp>
        <p:nvSpPr>
          <p:cNvPr id="1941884900" name="TextBox 1941884899"/>
          <p:cNvSpPr txBox="1"/>
          <p:nvPr/>
        </p:nvSpPr>
        <p:spPr>
          <a:xfrm>
            <a:off x="713232" y="420624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graphicFrame>
        <p:nvGraphicFramePr>
          <p:cNvPr id="1941884902" name="Table 1941884901"/>
          <p:cNvGraphicFramePr>
            <a:graphicFrameLocks noGrp="1"/>
          </p:cNvGraphicFramePr>
          <p:nvPr/>
        </p:nvGraphicFramePr>
        <p:xfrm>
          <a:off x="822960" y="1691640"/>
          <a:ext cx="1024128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82828"/>
                          </a:solidFill>
                        </a:defRPr>
                      </a:pPr>
                      <a:r>
                        <a:t>Проверка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82828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2828"/>
                          </a:solidFill>
                        </a:defRPr>
                      </a:pPr>
                      <a:r>
                        <a:t>Telegram initData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2828"/>
                          </a:solidFill>
                        </a:defRPr>
                      </a:pPr>
                      <a:r>
                        <a:t>корректная подпись принимается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2828"/>
                          </a:solidFill>
                        </a:defRPr>
                      </a:pPr>
                      <a:r>
                        <a:t>Tampered initData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2828"/>
                          </a:solidFill>
                        </a:defRPr>
                      </a:pPr>
                      <a:r>
                        <a:t>измененные данные отклоняются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2828"/>
                          </a:solidFill>
                        </a:defRPr>
                      </a:pPr>
                      <a:r>
                        <a:t>Публикация без seller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2828"/>
                          </a:solidFill>
                        </a:defRPr>
                      </a:pPr>
                      <a:r>
                        <a:t>возвращается 403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2828"/>
                          </a:solidFill>
                        </a:defRPr>
                      </a:pPr>
                      <a:r>
                        <a:t>Активный seller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2828"/>
                          </a:solidFill>
                        </a:defRPr>
                      </a:pPr>
                      <a:r>
                        <a:rPr dirty="0" err="1"/>
                        <a:t>получает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доступ</a:t>
                      </a:r>
                      <a:r>
                        <a:rPr dirty="0"/>
                        <a:t> к </a:t>
                      </a:r>
                      <a:r>
                        <a:rPr dirty="0" err="1"/>
                        <a:t>публикации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190B3DB-9EC3-0809-5C20-EC26D99EFE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819923" name="Подзаголовок 22">
            <a:extLst>
              <a:ext uri="{FF2B5EF4-FFF2-40B4-BE49-F238E27FC236}">
                <a16:creationId xmlns:a16="http://schemas.microsoft.com/office/drawing/2014/main" id="{E50E0F0C-0163-BD12-4CF0-820326E79D3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36000" y="1016399"/>
            <a:ext cx="10130208" cy="215444"/>
          </a:xfrm>
        </p:spPr>
        <p:txBody>
          <a:bodyPr/>
          <a:lstStyle/>
          <a:p>
            <a:r>
              <a:rPr lang="ru-RU" dirty="0">
                <a:solidFill>
                  <a:srgbClr val="5F5F5F"/>
                </a:solidFill>
              </a:rPr>
              <a:t>Проект готов к демонстрации и дальнейшему расширению</a:t>
            </a:r>
          </a:p>
        </p:txBody>
      </p:sp>
      <p:sp>
        <p:nvSpPr>
          <p:cNvPr id="300294221" name="Заголовок 21">
            <a:extLst>
              <a:ext uri="{FF2B5EF4-FFF2-40B4-BE49-F238E27FC236}">
                <a16:creationId xmlns:a16="http://schemas.microsoft.com/office/drawing/2014/main" id="{7EB71E6C-B6F8-EB10-6A87-ADF48743D25E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ru-RU" dirty="0">
                <a:solidFill>
                  <a:srgbClr val="1F1F1F"/>
                </a:solidFill>
              </a:rPr>
              <a:t>Выводы и развитие</a:t>
            </a:r>
          </a:p>
        </p:txBody>
      </p:sp>
      <p:sp>
        <p:nvSpPr>
          <p:cNvPr id="861036581" name="TextBox 3">
            <a:extLst>
              <a:ext uri="{FF2B5EF4-FFF2-40B4-BE49-F238E27FC236}">
                <a16:creationId xmlns:a16="http://schemas.microsoft.com/office/drawing/2014/main" id="{0DB2BB0C-5978-94AE-322D-DDB5AAEB463E}"/>
              </a:ext>
            </a:extLst>
          </p:cNvPr>
          <p:cNvSpPr txBox="1"/>
          <p:nvPr/>
        </p:nvSpPr>
        <p:spPr bwMode="auto">
          <a:xfrm>
            <a:off x="334963" y="1973938"/>
            <a:ext cx="2781863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endParaRPr/>
          </a:p>
        </p:txBody>
      </p:sp>
      <p:sp>
        <p:nvSpPr>
          <p:cNvPr id="1941884900" name="TextBox 1941884899">
            <a:extLst>
              <a:ext uri="{FF2B5EF4-FFF2-40B4-BE49-F238E27FC236}">
                <a16:creationId xmlns:a16="http://schemas.microsoft.com/office/drawing/2014/main" id="{9E3B9228-BCFA-C127-48DD-565F74746C97}"/>
              </a:ext>
            </a:extLst>
          </p:cNvPr>
          <p:cNvSpPr txBox="1"/>
          <p:nvPr/>
        </p:nvSpPr>
        <p:spPr>
          <a:xfrm>
            <a:off x="334963" y="385457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868680" y="1645920"/>
            <a:ext cx="49377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rPr dirty="0" err="1"/>
              <a:t>Реализован</a:t>
            </a:r>
            <a:r>
              <a:rPr dirty="0"/>
              <a:t> </a:t>
            </a:r>
            <a:r>
              <a:rPr dirty="0" err="1"/>
              <a:t>полноценный</a:t>
            </a:r>
            <a:r>
              <a:rPr dirty="0"/>
              <a:t> Mini App marketplace MVP</a:t>
            </a:r>
          </a:p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rPr dirty="0" err="1"/>
              <a:t>Настроены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,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</a:t>
            </a:r>
            <a:r>
              <a:rPr dirty="0" err="1"/>
              <a:t>фото</a:t>
            </a:r>
            <a:r>
              <a:rPr dirty="0"/>
              <a:t> и </a:t>
            </a:r>
            <a:r>
              <a:rPr dirty="0" err="1"/>
              <a:t>автоматический</a:t>
            </a:r>
            <a:r>
              <a:rPr dirty="0"/>
              <a:t> </a:t>
            </a:r>
            <a:r>
              <a:rPr dirty="0" err="1"/>
              <a:t>деплой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rPr dirty="0" err="1"/>
              <a:t>Секреты</a:t>
            </a:r>
            <a:r>
              <a:rPr dirty="0"/>
              <a:t> </a:t>
            </a:r>
            <a:r>
              <a:rPr dirty="0" err="1"/>
              <a:t>вынесены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попадают</a:t>
            </a:r>
            <a:r>
              <a:rPr dirty="0"/>
              <a:t> в </a:t>
            </a:r>
            <a:r>
              <a:rPr dirty="0" err="1"/>
              <a:t>репозиторий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6172200" y="1645920"/>
            <a:ext cx="46634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rPr dirty="0" err="1"/>
              <a:t>Дальше</a:t>
            </a:r>
            <a:r>
              <a:rPr dirty="0"/>
              <a:t>: </a:t>
            </a:r>
            <a:r>
              <a:rPr dirty="0" err="1"/>
              <a:t>расширенные</a:t>
            </a:r>
            <a:r>
              <a:rPr dirty="0"/>
              <a:t> </a:t>
            </a:r>
            <a:r>
              <a:rPr dirty="0" err="1"/>
              <a:t>фильтры</a:t>
            </a:r>
            <a:r>
              <a:rPr dirty="0"/>
              <a:t> и full-text search</a:t>
            </a:r>
          </a:p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rPr dirty="0" err="1"/>
              <a:t>Админ-панель</a:t>
            </a:r>
            <a:r>
              <a:rPr dirty="0"/>
              <a:t>, </a:t>
            </a:r>
            <a:r>
              <a:rPr dirty="0" err="1"/>
              <a:t>жалобы</a:t>
            </a:r>
            <a:r>
              <a:rPr dirty="0"/>
              <a:t> и </a:t>
            </a:r>
            <a:r>
              <a:rPr dirty="0" err="1"/>
              <a:t>статусы</a:t>
            </a:r>
            <a:r>
              <a:rPr dirty="0"/>
              <a:t> </a:t>
            </a:r>
            <a:r>
              <a:rPr dirty="0" err="1"/>
              <a:t>сделок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E2E2E"/>
                </a:solidFill>
              </a:defRPr>
            </a:pPr>
            <a:r>
              <a:rPr dirty="0"/>
              <a:t>E2E-тесты и backup PostgreSQL/</a:t>
            </a:r>
            <a:r>
              <a:rPr dirty="0" err="1"/>
              <a:t>MinIO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848412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20624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2700" b="1" dirty="0">
              <a:solidFill>
                <a:srgbClr val="1F1F1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1078992"/>
            <a:ext cx="9601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400" b="0" dirty="0">
              <a:solidFill>
                <a:srgbClr val="5F5F5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  <a:ln w="9525">
          <a:noFill/>
          <a:miter lim="800000"/>
          <a:headEnd/>
          <a:tailEnd/>
        </a:ln>
        <a:effectLst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701</Words>
  <Application>Microsoft Office PowerPoint</Application>
  <PresentationFormat>Широкоэкранный</PresentationFormat>
  <Paragraphs>130</Paragraphs>
  <Slides>12</Slides>
  <Notes>12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Wingdings</vt:lpstr>
      <vt:lpstr>Arial</vt:lpstr>
      <vt:lpstr>1_Theme1</vt:lpstr>
      <vt:lpstr>oleObj</vt:lpstr>
      <vt:lpstr>Telegram Mini App маркетплейс</vt:lpstr>
      <vt:lpstr>Цель и задачи работы </vt:lpstr>
      <vt:lpstr>Актуальность и конкуренты </vt:lpstr>
      <vt:lpstr>Требования к приложению </vt:lpstr>
      <vt:lpstr>Технологический стек </vt:lpstr>
      <vt:lpstr>Результаты разработки </vt:lpstr>
      <vt:lpstr>Архитектура решения </vt:lpstr>
      <vt:lpstr>Backend и безопасность </vt:lpstr>
      <vt:lpstr>Frontend-сценарии </vt:lpstr>
      <vt:lpstr>Тестирование </vt:lpstr>
      <vt:lpstr>Выводы и развитие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Ivan Isakov</cp:lastModifiedBy>
  <cp:revision>920</cp:revision>
  <dcterms:created xsi:type="dcterms:W3CDTF">2021-05-24T15:42:45Z</dcterms:created>
  <dcterms:modified xsi:type="dcterms:W3CDTF">2026-06-27T12:16:43Z</dcterms:modified>
</cp:coreProperties>
</file>